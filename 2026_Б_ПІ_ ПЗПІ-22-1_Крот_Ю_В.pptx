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71" r:id="rId9"/>
    <p:sldId id="265" r:id="rId10"/>
    <p:sldId id="272" r:id="rId11"/>
    <p:sldId id="273" r:id="rId12"/>
    <p:sldId id="266" r:id="rId13"/>
    <p:sldId id="268" r:id="rId14"/>
  </p:sldIdLst>
  <p:sldSz cx="9144000" cy="5143500" type="screen16x9"/>
  <p:notesSz cx="6858000" cy="9144000"/>
  <p:embeddedFontLst>
    <p:embeddedFont>
      <p:font typeface="Economica" panose="02000506040000020004" pitchFamily="2" charset="77"/>
      <p:regular r:id="rId16"/>
      <p:bold r:id="rId17"/>
      <p:italic r:id="rId18"/>
      <p:boldItalic r:id="rId19"/>
    </p:embeddedFont>
    <p:embeddedFont>
      <p:font typeface="Open Sans" panose="020B0606030504020204" pitchFamily="3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43"/>
  </p:normalViewPr>
  <p:slideViewPr>
    <p:cSldViewPr snapToGrid="0">
      <p:cViewPr>
        <p:scale>
          <a:sx n="149" d="100"/>
          <a:sy n="149" d="100"/>
        </p:scale>
        <p:origin x="1104" y="1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01374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ddf966691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0ddf966691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6b2ada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16b2ada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16b2adad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e16b2adad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16b2adad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16b2adad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2B53C-1ED5-0D20-9711-E3A74CDF4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421B44-77AB-5AEC-C9C4-B64E3F8206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3A6A20-3F03-D2F0-EBC6-AA2B35B91C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9E375D-D10E-F476-2A79-F7BC2D8C072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026346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94CED-2EBB-8833-A977-11992F12B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AF837E-093F-2E99-BF3C-F28406E508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2AB0F8-F4F0-26A3-403F-32BB97BB2F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8A2670-0B0F-BF80-CB0F-DF484D68420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118951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UA"/>
          </a:p>
        </p:txBody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UA"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7043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725" y="170825"/>
            <a:ext cx="2133975" cy="3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68504" y="170825"/>
            <a:ext cx="1924921" cy="43917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62;p13">
            <a:extLst>
              <a:ext uri="{FF2B5EF4-FFF2-40B4-BE49-F238E27FC236}">
                <a16:creationId xmlns:a16="http://schemas.microsoft.com/office/drawing/2014/main" id="{5F66606E-5695-FC17-DBA9-4B3DFE8E1423}"/>
              </a:ext>
            </a:extLst>
          </p:cNvPr>
          <p:cNvSpPr txBox="1">
            <a:spLocks/>
          </p:cNvSpPr>
          <p:nvPr/>
        </p:nvSpPr>
        <p:spPr>
          <a:xfrm>
            <a:off x="2805450" y="821299"/>
            <a:ext cx="4032672" cy="1158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algn="l"/>
            <a:r>
              <a:rPr lang="ru-RU" sz="2400"/>
              <a:t>Вебзастосунок для управління ресторанною мережею</a:t>
            </a:r>
            <a:endParaRPr lang="ru-RU" sz="2400" dirty="0"/>
          </a:p>
        </p:txBody>
      </p:sp>
      <p:sp>
        <p:nvSpPr>
          <p:cNvPr id="7" name="Google Shape;63;p13">
            <a:extLst>
              <a:ext uri="{FF2B5EF4-FFF2-40B4-BE49-F238E27FC236}">
                <a16:creationId xmlns:a16="http://schemas.microsoft.com/office/drawing/2014/main" id="{1931F288-B49F-8D16-415A-DF0C747C359C}"/>
              </a:ext>
            </a:extLst>
          </p:cNvPr>
          <p:cNvSpPr txBox="1">
            <a:spLocks/>
          </p:cNvSpPr>
          <p:nvPr/>
        </p:nvSpPr>
        <p:spPr>
          <a:xfrm>
            <a:off x="2837905" y="3117675"/>
            <a:ext cx="3583948" cy="15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indent="0"/>
            <a:endParaRPr lang="ru-RU" sz="1800"/>
          </a:p>
          <a:p>
            <a:pPr marL="0" indent="0" algn="l"/>
            <a:r>
              <a:rPr lang="ru-RU" sz="1800"/>
              <a:t>   Крот Юлія Вікторівна, ПЗПІ-22-1</a:t>
            </a:r>
          </a:p>
          <a:p>
            <a:pPr marL="0" indent="0" algn="r"/>
            <a:r>
              <a:rPr lang="ru-RU" sz="1800"/>
              <a:t>Керівник: доц. каф. ПІ Чуприна Анастасія Сергіївна</a:t>
            </a:r>
            <a:endParaRPr lang="ru-RU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8B1C2F-4D90-CF00-8805-D6ABDA68E45F}"/>
              </a:ext>
            </a:extLst>
          </p:cNvPr>
          <p:cNvSpPr txBox="1"/>
          <p:nvPr/>
        </p:nvSpPr>
        <p:spPr>
          <a:xfrm>
            <a:off x="2921686" y="4779667"/>
            <a:ext cx="335147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/>
              <a:t>13 липня 2026</a:t>
            </a:r>
            <a:endParaRPr lang="ru-RU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66">
            <a:extLst>
              <a:ext uri="{FF2B5EF4-FFF2-40B4-BE49-F238E27FC236}">
                <a16:creationId xmlns:a16="http://schemas.microsoft.com/office/drawing/2014/main" id="{3DC208A4-2491-0EE1-E608-F36966AD9924}"/>
              </a:ext>
            </a:extLst>
          </p:cNvPr>
          <p:cNvSpPr>
            <a:spLocks noGrp="1"/>
          </p:cNvSpPr>
          <p:nvPr/>
        </p:nvSpPr>
        <p:spPr>
          <a:xfrm>
            <a:off x="4741296" y="892576"/>
            <a:ext cx="3888017" cy="1476375"/>
          </a:xfrm>
          <a:prstGeom prst="rect">
            <a:avLst/>
          </a:prstGeom>
          <a:solidFill>
            <a:srgbClr val="F8F8F8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107D4FF-F691-4690-C3DE-2606B9E0DDE5}"/>
              </a:ext>
            </a:extLst>
          </p:cNvPr>
          <p:cNvSpPr>
            <a:spLocks noGrp="1"/>
          </p:cNvSpPr>
          <p:nvPr/>
        </p:nvSpPr>
        <p:spPr>
          <a:xfrm>
            <a:off x="11123046" y="5859117"/>
            <a:ext cx="30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>
                <a:solidFill>
                  <a:srgbClr val="111111"/>
                </a:solidFill>
              </a:defRPr>
            </a:pPr>
            <a:r>
              <a:rPr sz="975"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717D42D-5807-F722-712D-C88066D5379D}"/>
              </a:ext>
            </a:extLst>
          </p:cNvPr>
          <p:cNvSpPr>
            <a:spLocks noGrp="1"/>
          </p:cNvSpPr>
          <p:nvPr/>
        </p:nvSpPr>
        <p:spPr>
          <a:xfrm>
            <a:off x="377727" y="221000"/>
            <a:ext cx="9144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>
                <a:solidFill>
                  <a:srgbClr val="111111"/>
                </a:solidFill>
              </a:defRPr>
            </a:pPr>
            <a:r>
              <a:rPr sz="2550">
                <a:solidFill>
                  <a:srgbClr val="111111"/>
                </a:solidFill>
              </a:rPr>
              <a:t>Мета р</a:t>
            </a:r>
            <a:r>
              <a:rPr lang="ru-RU" sz="2550">
                <a:solidFill>
                  <a:srgbClr val="111111"/>
                </a:solidFill>
              </a:rPr>
              <a:t>о</a:t>
            </a:r>
            <a:r>
              <a:rPr sz="2550">
                <a:solidFill>
                  <a:srgbClr val="111111"/>
                </a:solidFill>
              </a:rPr>
              <a:t>боти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2C33E09-CB57-6C75-7C4F-AA6643496477}"/>
              </a:ext>
            </a:extLst>
          </p:cNvPr>
          <p:cNvSpPr>
            <a:spLocks noGrp="1"/>
          </p:cNvSpPr>
          <p:nvPr/>
        </p:nvSpPr>
        <p:spPr>
          <a:xfrm>
            <a:off x="359797" y="878909"/>
            <a:ext cx="3888018" cy="1476375"/>
          </a:xfrm>
          <a:prstGeom prst="rect">
            <a:avLst/>
          </a:prstGeom>
          <a:solidFill>
            <a:srgbClr val="F8F8F8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37AFDD0-D040-6567-4384-70071FFD6B55}"/>
              </a:ext>
            </a:extLst>
          </p:cNvPr>
          <p:cNvSpPr>
            <a:spLocks noGrp="1"/>
          </p:cNvSpPr>
          <p:nvPr/>
        </p:nvSpPr>
        <p:spPr>
          <a:xfrm>
            <a:off x="353915" y="878909"/>
            <a:ext cx="47625" cy="1476375"/>
          </a:xfrm>
          <a:prstGeom prst="rect">
            <a:avLst/>
          </a:prstGeom>
          <a:solidFill>
            <a:srgbClr val="F3B400"/>
          </a:solidFill>
          <a:ln w="0">
            <a:solidFill>
              <a:srgbClr val="F3B4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80A9B30-A236-8438-51A4-C3DFC18EC990}"/>
              </a:ext>
            </a:extLst>
          </p:cNvPr>
          <p:cNvSpPr>
            <a:spLocks noGrp="1"/>
          </p:cNvSpPr>
          <p:nvPr/>
        </p:nvSpPr>
        <p:spPr>
          <a:xfrm>
            <a:off x="563465" y="916325"/>
            <a:ext cx="46005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Мета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F9555AD-7D56-E9BF-1794-A7AD7CB326AE}"/>
              </a:ext>
            </a:extLst>
          </p:cNvPr>
          <p:cNvSpPr>
            <a:spLocks noGrp="1"/>
          </p:cNvSpPr>
          <p:nvPr/>
        </p:nvSpPr>
        <p:spPr>
          <a:xfrm>
            <a:off x="563465" y="1230980"/>
            <a:ext cx="3572538" cy="752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Розробити клієнт-серверний вебзастосунок для перегляду локацій і меню, бронювання столиків, попереднього замовлення страв, збору відгуків та формування аналітичної звітності.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E637E7A-EE78-64EA-F0DA-D94DC79B7686}"/>
              </a:ext>
            </a:extLst>
          </p:cNvPr>
          <p:cNvSpPr>
            <a:spLocks noGrp="1"/>
          </p:cNvSpPr>
          <p:nvPr/>
        </p:nvSpPr>
        <p:spPr>
          <a:xfrm>
            <a:off x="4693671" y="878908"/>
            <a:ext cx="47625" cy="1476375"/>
          </a:xfrm>
          <a:prstGeom prst="rect">
            <a:avLst/>
          </a:prstGeom>
          <a:solidFill>
            <a:srgbClr val="0097C7"/>
          </a:solidFill>
          <a:ln w="0">
            <a:solidFill>
              <a:srgbClr val="0097C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0A6D0AE-84F5-31CE-BCD0-215207E30DE5}"/>
              </a:ext>
            </a:extLst>
          </p:cNvPr>
          <p:cNvSpPr>
            <a:spLocks noGrp="1"/>
          </p:cNvSpPr>
          <p:nvPr/>
        </p:nvSpPr>
        <p:spPr>
          <a:xfrm>
            <a:off x="4741296" y="913053"/>
            <a:ext cx="46005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Актуальність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DBFB8E9-158A-1546-E2B6-94EB650A3D0B}"/>
              </a:ext>
            </a:extLst>
          </p:cNvPr>
          <p:cNvSpPr>
            <a:spLocks noGrp="1"/>
          </p:cNvSpPr>
          <p:nvPr/>
        </p:nvSpPr>
        <p:spPr>
          <a:xfrm>
            <a:off x="4759105" y="1327049"/>
            <a:ext cx="3583219" cy="870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Ресторанній мережі потрібна єдина система, яка пов’язує клієнтські дії, роботу офіціантів і управлінські показники без ручного зведення даних.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D474C47E-667A-4AC5-27AB-D09F1A435523}"/>
              </a:ext>
            </a:extLst>
          </p:cNvPr>
          <p:cNvSpPr>
            <a:spLocks noGrp="1"/>
          </p:cNvSpPr>
          <p:nvPr/>
        </p:nvSpPr>
        <p:spPr>
          <a:xfrm>
            <a:off x="1320165" y="2855306"/>
            <a:ext cx="123825" cy="123825"/>
          </a:xfrm>
          <a:prstGeom prst="ellipse">
            <a:avLst/>
          </a:prstGeom>
          <a:solidFill>
            <a:srgbClr val="F3B400"/>
          </a:solidFill>
          <a:ln w="0">
            <a:solidFill>
              <a:srgbClr val="F3B4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81F970B-9A3A-07A0-BB8F-DDC17CAF8E87}"/>
              </a:ext>
            </a:extLst>
          </p:cNvPr>
          <p:cNvSpPr>
            <a:spLocks noGrp="1"/>
          </p:cNvSpPr>
          <p:nvPr/>
        </p:nvSpPr>
        <p:spPr>
          <a:xfrm>
            <a:off x="1483746" y="2735829"/>
            <a:ext cx="9639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централізація бронювань, pre-order і feedback;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954187C2-A271-DF9E-1994-88CA19B4E3E5}"/>
              </a:ext>
            </a:extLst>
          </p:cNvPr>
          <p:cNvSpPr>
            <a:spLocks noGrp="1"/>
          </p:cNvSpPr>
          <p:nvPr/>
        </p:nvSpPr>
        <p:spPr>
          <a:xfrm>
            <a:off x="1320165" y="3312506"/>
            <a:ext cx="123825" cy="123825"/>
          </a:xfrm>
          <a:prstGeom prst="ellipse">
            <a:avLst/>
          </a:prstGeom>
          <a:solidFill>
            <a:srgbClr val="F3B400"/>
          </a:solidFill>
          <a:ln w="0">
            <a:solidFill>
              <a:srgbClr val="F3B4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5EF5D48-F32D-17D6-5F30-EF6D93EB9888}"/>
              </a:ext>
            </a:extLst>
          </p:cNvPr>
          <p:cNvSpPr>
            <a:spLocks noGrp="1"/>
          </p:cNvSpPr>
          <p:nvPr/>
        </p:nvSpPr>
        <p:spPr>
          <a:xfrm>
            <a:off x="1498036" y="3222045"/>
            <a:ext cx="9639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підтримка різних ролей користувачів;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002A3FCF-ED26-90C7-A6C5-6870D3EFA4B3}"/>
              </a:ext>
            </a:extLst>
          </p:cNvPr>
          <p:cNvSpPr>
            <a:spLocks noGrp="1"/>
          </p:cNvSpPr>
          <p:nvPr/>
        </p:nvSpPr>
        <p:spPr>
          <a:xfrm>
            <a:off x="1320165" y="3769706"/>
            <a:ext cx="123825" cy="123825"/>
          </a:xfrm>
          <a:prstGeom prst="ellipse">
            <a:avLst/>
          </a:prstGeom>
          <a:solidFill>
            <a:srgbClr val="F3B400"/>
          </a:solidFill>
          <a:ln w="0">
            <a:solidFill>
              <a:srgbClr val="F3B4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2A309F0-E001-AF91-D025-158C35C870C5}"/>
              </a:ext>
            </a:extLst>
          </p:cNvPr>
          <p:cNvSpPr>
            <a:spLocks noGrp="1"/>
          </p:cNvSpPr>
          <p:nvPr/>
        </p:nvSpPr>
        <p:spPr>
          <a:xfrm>
            <a:off x="1498036" y="3650230"/>
            <a:ext cx="9639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автоматичне формування даних для звітності;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EEDDC942-38A6-2B1C-1A8C-BEDE4CDFD0DD}"/>
              </a:ext>
            </a:extLst>
          </p:cNvPr>
          <p:cNvSpPr>
            <a:spLocks noGrp="1"/>
          </p:cNvSpPr>
          <p:nvPr/>
        </p:nvSpPr>
        <p:spPr>
          <a:xfrm>
            <a:off x="1320165" y="4226906"/>
            <a:ext cx="123825" cy="123825"/>
          </a:xfrm>
          <a:prstGeom prst="ellipse">
            <a:avLst/>
          </a:prstGeom>
          <a:solidFill>
            <a:srgbClr val="F3B400"/>
          </a:solidFill>
          <a:ln w="0">
            <a:solidFill>
              <a:srgbClr val="F3B4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126F999-BC85-7FCC-D720-37ADD3B20EAE}"/>
              </a:ext>
            </a:extLst>
          </p:cNvPr>
          <p:cNvSpPr>
            <a:spLocks noGrp="1"/>
          </p:cNvSpPr>
          <p:nvPr/>
        </p:nvSpPr>
        <p:spPr>
          <a:xfrm>
            <a:off x="1498036" y="4068877"/>
            <a:ext cx="9639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можливість швидко оцінювати роботу локацій і персоналу.</a:t>
            </a:r>
          </a:p>
        </p:txBody>
      </p:sp>
      <p:pic>
        <p:nvPicPr>
          <p:cNvPr id="68" name="Google Shape;64;p13">
            <a:extLst>
              <a:ext uri="{FF2B5EF4-FFF2-40B4-BE49-F238E27FC236}">
                <a16:creationId xmlns:a16="http://schemas.microsoft.com/office/drawing/2014/main" id="{E1833E0C-52DB-81B1-C731-72DA60A42C5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27788036-7678-C627-A8C6-FA8FE5486A0F}"/>
              </a:ext>
            </a:extLst>
          </p:cNvPr>
          <p:cNvSpPr>
            <a:spLocks noGrp="1"/>
          </p:cNvSpPr>
          <p:nvPr/>
        </p:nvSpPr>
        <p:spPr>
          <a:xfrm>
            <a:off x="6380572" y="1075911"/>
            <a:ext cx="2501518" cy="1945585"/>
          </a:xfrm>
          <a:prstGeom prst="rect">
            <a:avLst/>
          </a:prstGeom>
          <a:solidFill>
            <a:srgbClr val="F8F8F8"/>
          </a:solidFill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D9E8A1-0B06-8D29-6C3C-901846D0EB0F}"/>
              </a:ext>
            </a:extLst>
          </p:cNvPr>
          <p:cNvSpPr>
            <a:spLocks noGrp="1"/>
          </p:cNvSpPr>
          <p:nvPr/>
        </p:nvSpPr>
        <p:spPr>
          <a:xfrm>
            <a:off x="3331669" y="1075911"/>
            <a:ext cx="2501518" cy="1945585"/>
          </a:xfrm>
          <a:prstGeom prst="rect">
            <a:avLst/>
          </a:prstGeom>
          <a:solidFill>
            <a:srgbClr val="F8F8F8"/>
          </a:solidFill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4FFC93-05F5-8465-E9BF-FD8CBE780E17}"/>
              </a:ext>
            </a:extLst>
          </p:cNvPr>
          <p:cNvSpPr>
            <a:spLocks noGrp="1"/>
          </p:cNvSpPr>
          <p:nvPr/>
        </p:nvSpPr>
        <p:spPr>
          <a:xfrm>
            <a:off x="10792728" y="5752686"/>
            <a:ext cx="30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>
                <a:solidFill>
                  <a:srgbClr val="111111"/>
                </a:solidFill>
              </a:defRPr>
            </a:pPr>
            <a:r>
              <a:rPr sz="975"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4FC7B3-A2D8-615C-56EB-B94C59B0218B}"/>
              </a:ext>
            </a:extLst>
          </p:cNvPr>
          <p:cNvSpPr>
            <a:spLocks noGrp="1"/>
          </p:cNvSpPr>
          <p:nvPr/>
        </p:nvSpPr>
        <p:spPr>
          <a:xfrm>
            <a:off x="273241" y="324057"/>
            <a:ext cx="9810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>
                <a:solidFill>
                  <a:srgbClr val="111111"/>
                </a:solidFill>
              </a:defRPr>
            </a:pPr>
            <a:r>
              <a:rPr sz="2550">
                <a:solidFill>
                  <a:srgbClr val="111111"/>
                </a:solidFill>
              </a:rPr>
              <a:t>Аналіз проблеми (аналіз існуючих рішень)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3FFD06-1C72-DEC9-5F2A-95C5AE4DB23A}"/>
              </a:ext>
            </a:extLst>
          </p:cNvPr>
          <p:cNvSpPr>
            <a:spLocks noGrp="1"/>
          </p:cNvSpPr>
          <p:nvPr/>
        </p:nvSpPr>
        <p:spPr>
          <a:xfrm>
            <a:off x="273241" y="1075911"/>
            <a:ext cx="2501518" cy="1945585"/>
          </a:xfrm>
          <a:prstGeom prst="rect">
            <a:avLst/>
          </a:prstGeom>
          <a:solidFill>
            <a:srgbClr val="F8F8F8"/>
          </a:solidFill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E2D5CD-907F-C0E4-5CBF-44D72F072F60}"/>
              </a:ext>
            </a:extLst>
          </p:cNvPr>
          <p:cNvSpPr>
            <a:spLocks noGrp="1"/>
          </p:cNvSpPr>
          <p:nvPr/>
        </p:nvSpPr>
        <p:spPr>
          <a:xfrm>
            <a:off x="273241" y="1075911"/>
            <a:ext cx="47625" cy="1945585"/>
          </a:xfrm>
          <a:prstGeom prst="rect">
            <a:avLst/>
          </a:prstGeom>
          <a:solidFill>
            <a:srgbClr val="F3B400"/>
          </a:solidFill>
          <a:ln w="0">
            <a:solidFill>
              <a:srgbClr val="F3B4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617E3EA-84CF-F614-6DB4-78AD688FC7B5}"/>
              </a:ext>
            </a:extLst>
          </p:cNvPr>
          <p:cNvSpPr>
            <a:spLocks noGrp="1"/>
          </p:cNvSpPr>
          <p:nvPr/>
        </p:nvSpPr>
        <p:spPr>
          <a:xfrm>
            <a:off x="367588" y="1247361"/>
            <a:ext cx="2743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Сервіси бронювання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395EC9-1C3D-A6F2-E076-83D43A0056B1}"/>
              </a:ext>
            </a:extLst>
          </p:cNvPr>
          <p:cNvSpPr>
            <a:spLocks noGrp="1"/>
          </p:cNvSpPr>
          <p:nvPr/>
        </p:nvSpPr>
        <p:spPr>
          <a:xfrm>
            <a:off x="364934" y="1681370"/>
            <a:ext cx="2743200" cy="1704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Дають вибір дати, часу та столика, але зазвичай не формують аналітику роботи офіціантів і локацій.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C16520-E6D2-E34D-CE00-A346EDBF79F1}"/>
              </a:ext>
            </a:extLst>
          </p:cNvPr>
          <p:cNvSpPr>
            <a:spLocks noGrp="1"/>
          </p:cNvSpPr>
          <p:nvPr/>
        </p:nvSpPr>
        <p:spPr>
          <a:xfrm>
            <a:off x="3281390" y="1075911"/>
            <a:ext cx="47625" cy="1945585"/>
          </a:xfrm>
          <a:prstGeom prst="rect">
            <a:avLst/>
          </a:prstGeom>
          <a:solidFill>
            <a:srgbClr val="0097C7"/>
          </a:solidFill>
          <a:ln w="0">
            <a:solidFill>
              <a:srgbClr val="0097C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7558B09-79A2-2CAE-AAA7-EA6B10BAFAE7}"/>
              </a:ext>
            </a:extLst>
          </p:cNvPr>
          <p:cNvSpPr>
            <a:spLocks noGrp="1"/>
          </p:cNvSpPr>
          <p:nvPr/>
        </p:nvSpPr>
        <p:spPr>
          <a:xfrm>
            <a:off x="3398346" y="1247361"/>
            <a:ext cx="2743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POS та облік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7F14779-D8F7-550C-30F6-359382A8B07C}"/>
              </a:ext>
            </a:extLst>
          </p:cNvPr>
          <p:cNvSpPr>
            <a:spLocks noGrp="1"/>
          </p:cNvSpPr>
          <p:nvPr/>
        </p:nvSpPr>
        <p:spPr>
          <a:xfrm>
            <a:off x="3398346" y="1666461"/>
            <a:ext cx="2434841" cy="1704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Добре працюють із продажами, але не покривають повний клієнтський шлях: меню, pre-order, feedback і звіти.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52A111D-D63F-3C0B-A204-5DD8EC386AF3}"/>
              </a:ext>
            </a:extLst>
          </p:cNvPr>
          <p:cNvSpPr>
            <a:spLocks noGrp="1"/>
          </p:cNvSpPr>
          <p:nvPr/>
        </p:nvSpPr>
        <p:spPr>
          <a:xfrm>
            <a:off x="6317784" y="1075911"/>
            <a:ext cx="45719" cy="1945585"/>
          </a:xfrm>
          <a:prstGeom prst="rect">
            <a:avLst/>
          </a:prstGeom>
          <a:solidFill>
            <a:srgbClr val="6B7D16"/>
          </a:solidFill>
          <a:ln w="0">
            <a:solidFill>
              <a:srgbClr val="6B7D1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F439CC2-C4BF-2EE9-1456-50357A01D398}"/>
              </a:ext>
            </a:extLst>
          </p:cNvPr>
          <p:cNvSpPr>
            <a:spLocks noGrp="1"/>
          </p:cNvSpPr>
          <p:nvPr/>
        </p:nvSpPr>
        <p:spPr>
          <a:xfrm>
            <a:off x="6527334" y="1247361"/>
            <a:ext cx="2743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Табличні звіти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52851A1-CAB9-CF5D-DC9A-0D18EEA024DC}"/>
              </a:ext>
            </a:extLst>
          </p:cNvPr>
          <p:cNvSpPr>
            <a:spLocks noGrp="1"/>
          </p:cNvSpPr>
          <p:nvPr/>
        </p:nvSpPr>
        <p:spPr>
          <a:xfrm>
            <a:off x="6527334" y="1666461"/>
            <a:ext cx="2172548" cy="1704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Потребують ручного збору даних, через що адміністратор отримує показники із затримкою.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958167E-E63C-B27B-7346-5AD3740480A6}"/>
              </a:ext>
            </a:extLst>
          </p:cNvPr>
          <p:cNvSpPr>
            <a:spLocks noGrp="1"/>
          </p:cNvSpPr>
          <p:nvPr/>
        </p:nvSpPr>
        <p:spPr>
          <a:xfrm>
            <a:off x="273241" y="3534604"/>
            <a:ext cx="79295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111111"/>
                </a:solidFill>
              </a:defRPr>
            </a:pPr>
            <a:r>
              <a:rPr lang="ru-RU" sz="1875" b="1">
                <a:solidFill>
                  <a:srgbClr val="111111"/>
                </a:solidFill>
              </a:rPr>
              <a:t>П</a:t>
            </a:r>
            <a:r>
              <a:rPr sz="1875" b="1">
                <a:solidFill>
                  <a:srgbClr val="111111"/>
                </a:solidFill>
              </a:rPr>
              <a:t>отрібна система, де події користувачів автоматично перетворються на аналітичні записи.</a:t>
            </a:r>
          </a:p>
        </p:txBody>
      </p:sp>
      <p:pic>
        <p:nvPicPr>
          <p:cNvPr id="26" name="Google Shape;64;p13">
            <a:extLst>
              <a:ext uri="{FF2B5EF4-FFF2-40B4-BE49-F238E27FC236}">
                <a16:creationId xmlns:a16="http://schemas.microsoft.com/office/drawing/2014/main" id="{7ADFBF88-C075-C3E0-671A-79ECD4A96DC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>
            <a:extLst>
              <a:ext uri="{FF2B5EF4-FFF2-40B4-BE49-F238E27FC236}">
                <a16:creationId xmlns:a16="http://schemas.microsoft.com/office/drawing/2014/main" id="{3EFA3626-5FA2-E89B-0AA8-4ED224A271CD}"/>
              </a:ext>
            </a:extLst>
          </p:cNvPr>
          <p:cNvSpPr>
            <a:spLocks noGrp="1"/>
          </p:cNvSpPr>
          <p:nvPr/>
        </p:nvSpPr>
        <p:spPr>
          <a:xfrm>
            <a:off x="5507569" y="2003302"/>
            <a:ext cx="3062393" cy="781050"/>
          </a:xfrm>
          <a:prstGeom prst="rect">
            <a:avLst/>
          </a:prstGeom>
          <a:solidFill>
            <a:srgbClr val="F8F8F8"/>
          </a:solidFill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81D6ABA-81EC-C7D0-1DD5-761CDBFE57C6}"/>
              </a:ext>
            </a:extLst>
          </p:cNvPr>
          <p:cNvSpPr>
            <a:spLocks noGrp="1"/>
          </p:cNvSpPr>
          <p:nvPr/>
        </p:nvSpPr>
        <p:spPr>
          <a:xfrm>
            <a:off x="5507568" y="2934474"/>
            <a:ext cx="3062393" cy="781050"/>
          </a:xfrm>
          <a:prstGeom prst="rect">
            <a:avLst/>
          </a:prstGeom>
          <a:solidFill>
            <a:srgbClr val="F8F8F8"/>
          </a:solidFill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3ECE10B-0BBE-0C20-F90A-06ECA3579800}"/>
              </a:ext>
            </a:extLst>
          </p:cNvPr>
          <p:cNvSpPr>
            <a:spLocks noGrp="1"/>
          </p:cNvSpPr>
          <p:nvPr/>
        </p:nvSpPr>
        <p:spPr>
          <a:xfrm>
            <a:off x="5507568" y="3904502"/>
            <a:ext cx="3062393" cy="781050"/>
          </a:xfrm>
          <a:prstGeom prst="rect">
            <a:avLst/>
          </a:prstGeom>
          <a:solidFill>
            <a:srgbClr val="F8F8F8"/>
          </a:solidFill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3D9805-068E-FE7E-BC9A-0C410D68B73B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4</a:t>
            </a:fld>
            <a:endParaRPr lang="uk-UA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0065DC9-C8DD-3491-7F29-16F038BD055B}"/>
              </a:ext>
            </a:extLst>
          </p:cNvPr>
          <p:cNvSpPr>
            <a:spLocks noGrp="1"/>
          </p:cNvSpPr>
          <p:nvPr/>
        </p:nvSpPr>
        <p:spPr>
          <a:xfrm>
            <a:off x="268925" y="304871"/>
            <a:ext cx="9810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>
                <a:solidFill>
                  <a:srgbClr val="111111"/>
                </a:solidFill>
              </a:defRPr>
            </a:pPr>
            <a:r>
              <a:rPr sz="2550">
                <a:solidFill>
                  <a:srgbClr val="111111"/>
                </a:solidFill>
              </a:rPr>
              <a:t>Постановка задачі та опис системи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B4A7AA6-F299-6B31-8041-50BB02DD026F}"/>
              </a:ext>
            </a:extLst>
          </p:cNvPr>
          <p:cNvSpPr>
            <a:spLocks noGrp="1"/>
          </p:cNvSpPr>
          <p:nvPr/>
        </p:nvSpPr>
        <p:spPr>
          <a:xfrm>
            <a:off x="307025" y="1708958"/>
            <a:ext cx="123825" cy="123825"/>
          </a:xfrm>
          <a:prstGeom prst="ellipse">
            <a:avLst/>
          </a:prstGeom>
          <a:solidFill>
            <a:srgbClr val="F3B400"/>
          </a:solidFill>
          <a:ln w="0">
            <a:solidFill>
              <a:srgbClr val="F3B4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40F73DA-E08A-A2AB-9538-85AA837115BF}"/>
              </a:ext>
            </a:extLst>
          </p:cNvPr>
          <p:cNvSpPr>
            <a:spLocks noGrp="1"/>
          </p:cNvSpPr>
          <p:nvPr/>
        </p:nvSpPr>
        <p:spPr>
          <a:xfrm>
            <a:off x="592775" y="1582778"/>
            <a:ext cx="5162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111111"/>
                </a:solidFill>
              </a:defRPr>
            </a:pPr>
            <a:r>
              <a:rPr sz="1425">
                <a:solidFill>
                  <a:srgbClr val="111111"/>
                </a:solidFill>
              </a:rPr>
              <a:t>спроєктувати структуру даних ресторанної мережі;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6159CF6-E173-6A51-73DA-D736B6F4F87D}"/>
              </a:ext>
            </a:extLst>
          </p:cNvPr>
          <p:cNvSpPr>
            <a:spLocks noGrp="1"/>
          </p:cNvSpPr>
          <p:nvPr/>
        </p:nvSpPr>
        <p:spPr>
          <a:xfrm>
            <a:off x="307024" y="2151870"/>
            <a:ext cx="123825" cy="123825"/>
          </a:xfrm>
          <a:prstGeom prst="ellipse">
            <a:avLst/>
          </a:prstGeom>
          <a:solidFill>
            <a:srgbClr val="F3B400"/>
          </a:solidFill>
          <a:ln w="0">
            <a:solidFill>
              <a:srgbClr val="F3B4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D279BD9-74C7-C3AC-CC7F-4E7527C3FA7E}"/>
              </a:ext>
            </a:extLst>
          </p:cNvPr>
          <p:cNvSpPr>
            <a:spLocks noGrp="1"/>
          </p:cNvSpPr>
          <p:nvPr/>
        </p:nvSpPr>
        <p:spPr>
          <a:xfrm>
            <a:off x="592774" y="1977520"/>
            <a:ext cx="5162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111111"/>
                </a:solidFill>
              </a:defRPr>
            </a:pPr>
            <a:r>
              <a:rPr sz="1425">
                <a:solidFill>
                  <a:srgbClr val="111111"/>
                </a:solidFill>
              </a:rPr>
              <a:t>реалізувати локації, меню, бронювання, pre-order і feedback;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A4D4CBF-BCB7-AC5F-32CF-8C5091E2C551}"/>
              </a:ext>
            </a:extLst>
          </p:cNvPr>
          <p:cNvSpPr>
            <a:spLocks noGrp="1"/>
          </p:cNvSpPr>
          <p:nvPr/>
        </p:nvSpPr>
        <p:spPr>
          <a:xfrm>
            <a:off x="307024" y="2582512"/>
            <a:ext cx="123825" cy="123825"/>
          </a:xfrm>
          <a:prstGeom prst="ellipse">
            <a:avLst/>
          </a:prstGeom>
          <a:solidFill>
            <a:srgbClr val="F3B400"/>
          </a:solidFill>
          <a:ln w="0">
            <a:solidFill>
              <a:srgbClr val="F3B4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9C39813-4FCE-2659-4668-31857D15209F}"/>
              </a:ext>
            </a:extLst>
          </p:cNvPr>
          <p:cNvSpPr>
            <a:spLocks noGrp="1"/>
          </p:cNvSpPr>
          <p:nvPr/>
        </p:nvSpPr>
        <p:spPr>
          <a:xfrm>
            <a:off x="592774" y="2510920"/>
            <a:ext cx="5162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111111"/>
                </a:solidFill>
              </a:defRPr>
            </a:pPr>
            <a:r>
              <a:rPr sz="1425">
                <a:solidFill>
                  <a:srgbClr val="111111"/>
                </a:solidFill>
              </a:rPr>
              <a:t>підтримати ролі Visitor, Customer, Waiter та Admin;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0D84D17-BD8A-FBC6-6562-903F1DE384DB}"/>
              </a:ext>
            </a:extLst>
          </p:cNvPr>
          <p:cNvSpPr>
            <a:spLocks noGrp="1"/>
          </p:cNvSpPr>
          <p:nvPr/>
        </p:nvSpPr>
        <p:spPr>
          <a:xfrm>
            <a:off x="307024" y="2955905"/>
            <a:ext cx="123825" cy="123825"/>
          </a:xfrm>
          <a:prstGeom prst="ellipse">
            <a:avLst/>
          </a:prstGeom>
          <a:solidFill>
            <a:srgbClr val="F3B400"/>
          </a:solidFill>
          <a:ln w="0">
            <a:solidFill>
              <a:srgbClr val="F3B4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80B0816-3D35-BCCF-6A9D-4D12C14230B4}"/>
              </a:ext>
            </a:extLst>
          </p:cNvPr>
          <p:cNvSpPr>
            <a:spLocks noGrp="1"/>
          </p:cNvSpPr>
          <p:nvPr/>
        </p:nvSpPr>
        <p:spPr>
          <a:xfrm>
            <a:off x="592774" y="2876290"/>
            <a:ext cx="5162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111111"/>
                </a:solidFill>
              </a:defRPr>
            </a:pPr>
            <a:r>
              <a:rPr sz="1425">
                <a:solidFill>
                  <a:srgbClr val="111111"/>
                </a:solidFill>
              </a:rPr>
              <a:t>автоматично призначати офіціанта до резервації;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EB75EB3F-2CFB-E19A-A3B7-4878074D4AF0}"/>
              </a:ext>
            </a:extLst>
          </p:cNvPr>
          <p:cNvSpPr>
            <a:spLocks noGrp="1"/>
          </p:cNvSpPr>
          <p:nvPr/>
        </p:nvSpPr>
        <p:spPr>
          <a:xfrm>
            <a:off x="298273" y="3329298"/>
            <a:ext cx="123825" cy="123825"/>
          </a:xfrm>
          <a:prstGeom prst="ellipse">
            <a:avLst/>
          </a:prstGeom>
          <a:solidFill>
            <a:srgbClr val="F3B400"/>
          </a:solidFill>
          <a:ln w="0">
            <a:solidFill>
              <a:srgbClr val="F3B4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EE125F3-C3EB-697C-2AAC-8CF92118CB24}"/>
              </a:ext>
            </a:extLst>
          </p:cNvPr>
          <p:cNvSpPr>
            <a:spLocks noGrp="1"/>
          </p:cNvSpPr>
          <p:nvPr/>
        </p:nvSpPr>
        <p:spPr>
          <a:xfrm>
            <a:off x="584023" y="3203452"/>
            <a:ext cx="5162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111111"/>
                </a:solidFill>
              </a:defRPr>
            </a:pPr>
            <a:r>
              <a:rPr sz="1425">
                <a:solidFill>
                  <a:srgbClr val="111111"/>
                </a:solidFill>
              </a:rPr>
              <a:t>забезпечити звітність для адміністратора на основі реальних подій.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0515879-EF3B-E489-CD08-C56731FF65CE}"/>
              </a:ext>
            </a:extLst>
          </p:cNvPr>
          <p:cNvSpPr>
            <a:spLocks noGrp="1"/>
          </p:cNvSpPr>
          <p:nvPr/>
        </p:nvSpPr>
        <p:spPr>
          <a:xfrm>
            <a:off x="5488831" y="1005296"/>
            <a:ext cx="3062393" cy="781050"/>
          </a:xfrm>
          <a:prstGeom prst="rect">
            <a:avLst/>
          </a:prstGeom>
          <a:solidFill>
            <a:srgbClr val="F8F8F8"/>
          </a:solidFill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A1A8A97-2D27-2540-5903-C971D54A2B07}"/>
              </a:ext>
            </a:extLst>
          </p:cNvPr>
          <p:cNvSpPr>
            <a:spLocks noGrp="1"/>
          </p:cNvSpPr>
          <p:nvPr/>
        </p:nvSpPr>
        <p:spPr>
          <a:xfrm>
            <a:off x="5465020" y="1005296"/>
            <a:ext cx="47625" cy="781050"/>
          </a:xfrm>
          <a:prstGeom prst="rect">
            <a:avLst/>
          </a:prstGeom>
          <a:solidFill>
            <a:srgbClr val="008FA3"/>
          </a:solidFill>
          <a:ln w="0">
            <a:solidFill>
              <a:srgbClr val="008FA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8B104D1-92C8-5DAF-3129-08F538787E00}"/>
              </a:ext>
            </a:extLst>
          </p:cNvPr>
          <p:cNvSpPr>
            <a:spLocks noGrp="1"/>
          </p:cNvSpPr>
          <p:nvPr/>
        </p:nvSpPr>
        <p:spPr>
          <a:xfrm>
            <a:off x="5585273" y="1009343"/>
            <a:ext cx="36480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Visitor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0B1472D-428A-860A-2FCA-9CCD99334E98}"/>
              </a:ext>
            </a:extLst>
          </p:cNvPr>
          <p:cNvSpPr>
            <a:spLocks noGrp="1"/>
          </p:cNvSpPr>
          <p:nvPr/>
        </p:nvSpPr>
        <p:spPr>
          <a:xfrm>
            <a:off x="5585273" y="1283011"/>
            <a:ext cx="2762794" cy="404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переглядає головну сторінку, локації та меню без авторизації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FDCE0EB-4BAE-751C-44F9-BCB8F1DFA888}"/>
              </a:ext>
            </a:extLst>
          </p:cNvPr>
          <p:cNvSpPr>
            <a:spLocks noGrp="1"/>
          </p:cNvSpPr>
          <p:nvPr/>
        </p:nvSpPr>
        <p:spPr>
          <a:xfrm>
            <a:off x="5461511" y="1992564"/>
            <a:ext cx="47625" cy="781050"/>
          </a:xfrm>
          <a:prstGeom prst="rect">
            <a:avLst/>
          </a:prstGeom>
          <a:solidFill>
            <a:srgbClr val="F3B400"/>
          </a:solidFill>
          <a:ln w="0">
            <a:solidFill>
              <a:srgbClr val="F3B4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8EC885F-5E4A-081A-AAEB-CA5D12042D29}"/>
              </a:ext>
            </a:extLst>
          </p:cNvPr>
          <p:cNvSpPr>
            <a:spLocks noGrp="1"/>
          </p:cNvSpPr>
          <p:nvPr/>
        </p:nvSpPr>
        <p:spPr>
          <a:xfrm>
            <a:off x="5495925" y="2006306"/>
            <a:ext cx="36480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Customer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812AAEE-9962-DC73-599B-DFBF37D3C621}"/>
              </a:ext>
            </a:extLst>
          </p:cNvPr>
          <p:cNvSpPr>
            <a:spLocks noGrp="1"/>
          </p:cNvSpPr>
          <p:nvPr/>
        </p:nvSpPr>
        <p:spPr>
          <a:xfrm>
            <a:off x="5537648" y="2340419"/>
            <a:ext cx="3251703" cy="3719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створює бронювання, додає pre-order і залишає feedback після відвідування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CEB1278-3FA5-260B-C05C-92B8DE21E56F}"/>
              </a:ext>
            </a:extLst>
          </p:cNvPr>
          <p:cNvSpPr>
            <a:spLocks noGrp="1"/>
          </p:cNvSpPr>
          <p:nvPr/>
        </p:nvSpPr>
        <p:spPr>
          <a:xfrm>
            <a:off x="5461511" y="2927227"/>
            <a:ext cx="47625" cy="781050"/>
          </a:xfrm>
          <a:prstGeom prst="rect">
            <a:avLst/>
          </a:prstGeom>
          <a:solidFill>
            <a:srgbClr val="6B7D16"/>
          </a:solidFill>
          <a:ln w="0">
            <a:solidFill>
              <a:srgbClr val="6B7D1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0AC0AE4-E33F-0B19-41CD-2208ADEEE375}"/>
              </a:ext>
            </a:extLst>
          </p:cNvPr>
          <p:cNvSpPr>
            <a:spLocks noGrp="1"/>
          </p:cNvSpPr>
          <p:nvPr/>
        </p:nvSpPr>
        <p:spPr>
          <a:xfrm>
            <a:off x="5555193" y="2917702"/>
            <a:ext cx="36480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Waiter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8CB4BC7-1BB1-FB9E-14B5-7A6688D19720}"/>
              </a:ext>
            </a:extLst>
          </p:cNvPr>
          <p:cNvSpPr>
            <a:spLocks noGrp="1"/>
          </p:cNvSpPr>
          <p:nvPr/>
        </p:nvSpPr>
        <p:spPr>
          <a:xfrm>
            <a:off x="5585273" y="3256631"/>
            <a:ext cx="2965951" cy="4190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бачить призначені резервації та працює з клієнтами своєї локації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A062B52-BFA2-8DE3-3C07-63EE7B18423D}"/>
              </a:ext>
            </a:extLst>
          </p:cNvPr>
          <p:cNvSpPr>
            <a:spLocks noGrp="1"/>
          </p:cNvSpPr>
          <p:nvPr/>
        </p:nvSpPr>
        <p:spPr>
          <a:xfrm>
            <a:off x="5463015" y="3911749"/>
            <a:ext cx="47625" cy="781050"/>
          </a:xfrm>
          <a:prstGeom prst="rect">
            <a:avLst/>
          </a:prstGeom>
          <a:solidFill>
            <a:srgbClr val="0097C7"/>
          </a:solidFill>
          <a:ln w="0">
            <a:solidFill>
              <a:srgbClr val="0097C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69CDFA0-EB38-A991-7F3C-6CAF7E4C3EB5}"/>
              </a:ext>
            </a:extLst>
          </p:cNvPr>
          <p:cNvSpPr>
            <a:spLocks noGrp="1"/>
          </p:cNvSpPr>
          <p:nvPr/>
        </p:nvSpPr>
        <p:spPr>
          <a:xfrm>
            <a:off x="5555192" y="3888496"/>
            <a:ext cx="36480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Admin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D4A4F6F-83E9-98A6-2744-A46D457B8014}"/>
              </a:ext>
            </a:extLst>
          </p:cNvPr>
          <p:cNvSpPr>
            <a:spLocks noGrp="1"/>
          </p:cNvSpPr>
          <p:nvPr/>
        </p:nvSpPr>
        <p:spPr>
          <a:xfrm>
            <a:off x="5555192" y="4183308"/>
            <a:ext cx="3013576" cy="4765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переглядає dashboard і завантажує CSV, Excel або PDF-звіти</a:t>
            </a:r>
          </a:p>
        </p:txBody>
      </p:sp>
      <p:pic>
        <p:nvPicPr>
          <p:cNvPr id="65" name="Google Shape;64;p13">
            <a:extLst>
              <a:ext uri="{FF2B5EF4-FFF2-40B4-BE49-F238E27FC236}">
                <a16:creationId xmlns:a16="http://schemas.microsoft.com/office/drawing/2014/main" id="{B3F79D77-A106-CAAC-9C3B-A241A1118DF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F834AA04-FD42-0610-7CB4-3E38FC9838AA}"/>
              </a:ext>
            </a:extLst>
          </p:cNvPr>
          <p:cNvSpPr>
            <a:spLocks noGrp="1"/>
          </p:cNvSpPr>
          <p:nvPr/>
        </p:nvSpPr>
        <p:spPr>
          <a:xfrm>
            <a:off x="6242808" y="932080"/>
            <a:ext cx="1870257" cy="2159276"/>
          </a:xfrm>
          <a:prstGeom prst="rect">
            <a:avLst/>
          </a:prstGeom>
          <a:solidFill>
            <a:srgbClr val="F8F8F8"/>
          </a:solidFill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5A34D6E-8F5C-F90B-B012-5DE1C3400E90}"/>
              </a:ext>
            </a:extLst>
          </p:cNvPr>
          <p:cNvSpPr>
            <a:spLocks noGrp="1"/>
          </p:cNvSpPr>
          <p:nvPr/>
        </p:nvSpPr>
        <p:spPr>
          <a:xfrm>
            <a:off x="3431027" y="939662"/>
            <a:ext cx="1907734" cy="2159276"/>
          </a:xfrm>
          <a:prstGeom prst="rect">
            <a:avLst/>
          </a:prstGeom>
          <a:solidFill>
            <a:srgbClr val="F8F8F8"/>
          </a:solidFill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43E912-C721-1128-5F72-D9BB9BCF5CCA}"/>
              </a:ext>
            </a:extLst>
          </p:cNvPr>
          <p:cNvSpPr txBox="1"/>
          <p:nvPr/>
        </p:nvSpPr>
        <p:spPr>
          <a:xfrm>
            <a:off x="8778240" y="4615680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5</a:t>
            </a:fld>
            <a:endParaRPr lang="uk-UA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D86197-B7A8-D282-7BB0-BD85BB3A54C1}"/>
              </a:ext>
            </a:extLst>
          </p:cNvPr>
          <p:cNvSpPr>
            <a:spLocks noGrp="1"/>
          </p:cNvSpPr>
          <p:nvPr/>
        </p:nvSpPr>
        <p:spPr>
          <a:xfrm>
            <a:off x="268925" y="219435"/>
            <a:ext cx="9810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>
                <a:solidFill>
                  <a:srgbClr val="111111"/>
                </a:solidFill>
              </a:defRPr>
            </a:pPr>
            <a:r>
              <a:rPr sz="2550">
                <a:solidFill>
                  <a:srgbClr val="111111"/>
                </a:solidFill>
              </a:rPr>
              <a:t>Вибір технологій розробки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A545DA-F19A-44DB-B87A-B475C87DE2F6}"/>
              </a:ext>
            </a:extLst>
          </p:cNvPr>
          <p:cNvSpPr>
            <a:spLocks noGrp="1"/>
          </p:cNvSpPr>
          <p:nvPr/>
        </p:nvSpPr>
        <p:spPr>
          <a:xfrm>
            <a:off x="685800" y="957263"/>
            <a:ext cx="1907734" cy="2159276"/>
          </a:xfrm>
          <a:prstGeom prst="rect">
            <a:avLst/>
          </a:prstGeom>
          <a:solidFill>
            <a:srgbClr val="F8F8F8"/>
          </a:solidFill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0D8A43-419B-97BF-1677-0E085FDA0BDF}"/>
              </a:ext>
            </a:extLst>
          </p:cNvPr>
          <p:cNvSpPr>
            <a:spLocks noGrp="1"/>
          </p:cNvSpPr>
          <p:nvPr/>
        </p:nvSpPr>
        <p:spPr>
          <a:xfrm>
            <a:off x="685800" y="957262"/>
            <a:ext cx="45719" cy="2159277"/>
          </a:xfrm>
          <a:prstGeom prst="rect">
            <a:avLst/>
          </a:prstGeom>
          <a:solidFill>
            <a:srgbClr val="0097C7"/>
          </a:solidFill>
          <a:ln w="0">
            <a:solidFill>
              <a:srgbClr val="0097C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A86685-B600-7DB4-A05A-3F48972CCDDD}"/>
              </a:ext>
            </a:extLst>
          </p:cNvPr>
          <p:cNvSpPr>
            <a:spLocks noGrp="1"/>
          </p:cNvSpPr>
          <p:nvPr/>
        </p:nvSpPr>
        <p:spPr>
          <a:xfrm>
            <a:off x="895350" y="1128712"/>
            <a:ext cx="26003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Frontend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F42B2D-0F3D-C337-F0C1-4B240E152C70}"/>
              </a:ext>
            </a:extLst>
          </p:cNvPr>
          <p:cNvSpPr>
            <a:spLocks noGrp="1"/>
          </p:cNvSpPr>
          <p:nvPr/>
        </p:nvSpPr>
        <p:spPr>
          <a:xfrm>
            <a:off x="895350" y="1547812"/>
            <a:ext cx="2600325" cy="1990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Next.js</a:t>
            </a:r>
          </a:p>
          <a:p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React</a:t>
            </a:r>
          </a:p>
          <a:p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TypeScript</a:t>
            </a:r>
          </a:p>
          <a:p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Sass</a:t>
            </a:r>
          </a:p>
          <a:p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Playwright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37243E-F8FD-D2EA-B779-48AD2D081DE9}"/>
              </a:ext>
            </a:extLst>
          </p:cNvPr>
          <p:cNvSpPr>
            <a:spLocks noGrp="1"/>
          </p:cNvSpPr>
          <p:nvPr/>
        </p:nvSpPr>
        <p:spPr>
          <a:xfrm flipH="1">
            <a:off x="3431027" y="939662"/>
            <a:ext cx="45719" cy="2176877"/>
          </a:xfrm>
          <a:prstGeom prst="rect">
            <a:avLst/>
          </a:prstGeom>
          <a:solidFill>
            <a:srgbClr val="F3B400"/>
          </a:solidFill>
          <a:ln w="0">
            <a:solidFill>
              <a:srgbClr val="F3B4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90A0F9-A2F0-8238-D7E4-7069607E0A81}"/>
              </a:ext>
            </a:extLst>
          </p:cNvPr>
          <p:cNvSpPr>
            <a:spLocks noGrp="1"/>
          </p:cNvSpPr>
          <p:nvPr/>
        </p:nvSpPr>
        <p:spPr>
          <a:xfrm>
            <a:off x="3664390" y="1128712"/>
            <a:ext cx="26003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Backend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D53BE7-76F5-46FD-C485-3355C2A9A8C0}"/>
              </a:ext>
            </a:extLst>
          </p:cNvPr>
          <p:cNvSpPr>
            <a:spLocks noGrp="1"/>
          </p:cNvSpPr>
          <p:nvPr/>
        </p:nvSpPr>
        <p:spPr>
          <a:xfrm>
            <a:off x="3664390" y="1547812"/>
            <a:ext cx="2600325" cy="1990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AWS Lambda</a:t>
            </a:r>
          </a:p>
          <a:p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API Gateway</a:t>
            </a:r>
          </a:p>
          <a:p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Python</a:t>
            </a:r>
          </a:p>
          <a:p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Cognito</a:t>
            </a:r>
          </a:p>
          <a:p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DynamoDB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E1530D2-DD67-1B84-0F90-A64A8B5675BE}"/>
              </a:ext>
            </a:extLst>
          </p:cNvPr>
          <p:cNvSpPr>
            <a:spLocks noGrp="1"/>
          </p:cNvSpPr>
          <p:nvPr/>
        </p:nvSpPr>
        <p:spPr>
          <a:xfrm>
            <a:off x="6218996" y="932081"/>
            <a:ext cx="45719" cy="2176878"/>
          </a:xfrm>
          <a:prstGeom prst="rect">
            <a:avLst/>
          </a:prstGeom>
          <a:solidFill>
            <a:srgbClr val="6B7D16"/>
          </a:solidFill>
          <a:ln w="0">
            <a:solidFill>
              <a:srgbClr val="6B7D1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710AB1-A5EB-5824-3E8A-FE4B5E311506}"/>
              </a:ext>
            </a:extLst>
          </p:cNvPr>
          <p:cNvSpPr>
            <a:spLocks noGrp="1"/>
          </p:cNvSpPr>
          <p:nvPr/>
        </p:nvSpPr>
        <p:spPr>
          <a:xfrm>
            <a:off x="6341426" y="1103530"/>
            <a:ext cx="26003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Аналітика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609F122-A8D7-53CF-FD04-C925B480908D}"/>
              </a:ext>
            </a:extLst>
          </p:cNvPr>
          <p:cNvSpPr>
            <a:spLocks noGrp="1"/>
          </p:cNvSpPr>
          <p:nvPr/>
        </p:nvSpPr>
        <p:spPr>
          <a:xfrm>
            <a:off x="6341426" y="1522630"/>
            <a:ext cx="2600325" cy="1990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SQS</a:t>
            </a:r>
          </a:p>
          <a:p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EventBridge</a:t>
            </a:r>
          </a:p>
          <a:p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SES</a:t>
            </a:r>
          </a:p>
          <a:p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Reports table</a:t>
            </a:r>
          </a:p>
          <a:p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CSV / Excel / PDF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50EAFCD-33A3-B9DC-F731-3AFE65F50D5F}"/>
              </a:ext>
            </a:extLst>
          </p:cNvPr>
          <p:cNvSpPr>
            <a:spLocks noGrp="1"/>
          </p:cNvSpPr>
          <p:nvPr/>
        </p:nvSpPr>
        <p:spPr>
          <a:xfrm>
            <a:off x="361122" y="3626827"/>
            <a:ext cx="7751943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>
                <a:solidFill>
                  <a:srgbClr val="111111"/>
                </a:solidFill>
              </a:defRPr>
            </a:pPr>
            <a:r>
              <a:rPr sz="1725">
                <a:solidFill>
                  <a:srgbClr val="111111"/>
                </a:solidFill>
              </a:rPr>
              <a:t>Стек обрано так, щоб вебінтерфейс, бізнес-логіка та аналітика були розділені, але працювали як один процес.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9A787C0-16EF-033D-BF6C-C61A048C5205}"/>
              </a:ext>
            </a:extLst>
          </p:cNvPr>
          <p:cNvSpPr>
            <a:spLocks noGrp="1"/>
          </p:cNvSpPr>
          <p:nvPr/>
        </p:nvSpPr>
        <p:spPr>
          <a:xfrm>
            <a:off x="6203051" y="922141"/>
            <a:ext cx="1870257" cy="2159276"/>
          </a:xfrm>
          <a:prstGeom prst="rect">
            <a:avLst/>
          </a:prstGeom>
          <a:solidFill>
            <a:srgbClr val="F8F8F8"/>
          </a:solidFill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4BEF9EC-86AC-3A58-AFB4-4B12C80E1E45}"/>
              </a:ext>
            </a:extLst>
          </p:cNvPr>
          <p:cNvSpPr>
            <a:spLocks noGrp="1"/>
          </p:cNvSpPr>
          <p:nvPr/>
        </p:nvSpPr>
        <p:spPr>
          <a:xfrm>
            <a:off x="6179239" y="922142"/>
            <a:ext cx="45719" cy="2176878"/>
          </a:xfrm>
          <a:prstGeom prst="rect">
            <a:avLst/>
          </a:prstGeom>
          <a:solidFill>
            <a:srgbClr val="6B7D16"/>
          </a:solidFill>
          <a:ln w="0">
            <a:solidFill>
              <a:srgbClr val="6B7D1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D2CC16A-15FD-F5CA-0E3A-B896D03577BD}"/>
              </a:ext>
            </a:extLst>
          </p:cNvPr>
          <p:cNvSpPr>
            <a:spLocks noGrp="1"/>
          </p:cNvSpPr>
          <p:nvPr/>
        </p:nvSpPr>
        <p:spPr>
          <a:xfrm>
            <a:off x="6301669" y="1093591"/>
            <a:ext cx="26003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Аналітика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BA3C7A-0EED-85BE-2AFC-B62C1CB6EC76}"/>
              </a:ext>
            </a:extLst>
          </p:cNvPr>
          <p:cNvSpPr>
            <a:spLocks noGrp="1"/>
          </p:cNvSpPr>
          <p:nvPr/>
        </p:nvSpPr>
        <p:spPr>
          <a:xfrm>
            <a:off x="6301669" y="1512691"/>
            <a:ext cx="2600325" cy="1990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SQS</a:t>
            </a:r>
          </a:p>
          <a:p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EventBridge</a:t>
            </a:r>
          </a:p>
          <a:p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SES</a:t>
            </a:r>
          </a:p>
          <a:p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Reports table</a:t>
            </a:r>
          </a:p>
          <a:p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CSV / Excel / PDF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A3880247-DDB4-F096-F62F-453901F37559}"/>
              </a:ext>
            </a:extLst>
          </p:cNvPr>
          <p:cNvSpPr>
            <a:spLocks noGrp="1"/>
          </p:cNvSpPr>
          <p:nvPr/>
        </p:nvSpPr>
        <p:spPr>
          <a:xfrm>
            <a:off x="6689406" y="3192397"/>
            <a:ext cx="1921668" cy="935831"/>
          </a:xfrm>
          <a:prstGeom prst="rect">
            <a:avLst/>
          </a:prstGeom>
          <a:solidFill>
            <a:srgbClr val="F8F8F8"/>
          </a:solidFill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A" sz="10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3D56D45-22F8-8C88-F874-DAAA8EFB77DB}"/>
              </a:ext>
            </a:extLst>
          </p:cNvPr>
          <p:cNvSpPr>
            <a:spLocks noGrp="1"/>
          </p:cNvSpPr>
          <p:nvPr/>
        </p:nvSpPr>
        <p:spPr>
          <a:xfrm>
            <a:off x="6679406" y="2145519"/>
            <a:ext cx="1921668" cy="935831"/>
          </a:xfrm>
          <a:prstGeom prst="rect">
            <a:avLst/>
          </a:prstGeom>
          <a:solidFill>
            <a:srgbClr val="F8F8F8"/>
          </a:solidFill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A" sz="10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D550B3D-EA7D-056B-35C7-F49692422BEB}"/>
              </a:ext>
            </a:extLst>
          </p:cNvPr>
          <p:cNvSpPr>
            <a:spLocks noGrp="1"/>
          </p:cNvSpPr>
          <p:nvPr/>
        </p:nvSpPr>
        <p:spPr>
          <a:xfrm>
            <a:off x="4618185" y="3193147"/>
            <a:ext cx="1921668" cy="935831"/>
          </a:xfrm>
          <a:prstGeom prst="rect">
            <a:avLst/>
          </a:prstGeom>
          <a:solidFill>
            <a:srgbClr val="F8F8F8"/>
          </a:solidFill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A" sz="105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DD25142-1A0F-D3D7-84CA-E658C157DB39}"/>
              </a:ext>
            </a:extLst>
          </p:cNvPr>
          <p:cNvSpPr>
            <a:spLocks noGrp="1"/>
          </p:cNvSpPr>
          <p:nvPr/>
        </p:nvSpPr>
        <p:spPr>
          <a:xfrm>
            <a:off x="4593508" y="1121461"/>
            <a:ext cx="1921668" cy="935831"/>
          </a:xfrm>
          <a:prstGeom prst="rect">
            <a:avLst/>
          </a:prstGeom>
          <a:solidFill>
            <a:srgbClr val="F8F8F8"/>
          </a:solidFill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A" sz="10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3EB3608-01A5-2D23-F15E-590DA4070427}"/>
              </a:ext>
            </a:extLst>
          </p:cNvPr>
          <p:cNvSpPr>
            <a:spLocks noGrp="1"/>
          </p:cNvSpPr>
          <p:nvPr/>
        </p:nvSpPr>
        <p:spPr>
          <a:xfrm>
            <a:off x="4607719" y="2157304"/>
            <a:ext cx="1921668" cy="935831"/>
          </a:xfrm>
          <a:prstGeom prst="rect">
            <a:avLst/>
          </a:prstGeom>
          <a:solidFill>
            <a:srgbClr val="F8F8F8"/>
          </a:solidFill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A" sz="105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F3CAD69-05B6-DA61-6CE2-5640BBE8BD4B}"/>
              </a:ext>
            </a:extLst>
          </p:cNvPr>
          <p:cNvSpPr>
            <a:spLocks noGrp="1"/>
          </p:cNvSpPr>
          <p:nvPr/>
        </p:nvSpPr>
        <p:spPr>
          <a:xfrm>
            <a:off x="6679406" y="1134719"/>
            <a:ext cx="1921668" cy="935831"/>
          </a:xfrm>
          <a:prstGeom prst="rect">
            <a:avLst/>
          </a:prstGeom>
          <a:solidFill>
            <a:srgbClr val="F8F8F8"/>
          </a:solidFill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A" sz="10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AEE6C1-3199-41B7-9D6D-C769A7A2EE3C}"/>
              </a:ext>
            </a:extLst>
          </p:cNvPr>
          <p:cNvSpPr>
            <a:spLocks noGrp="1"/>
          </p:cNvSpPr>
          <p:nvPr/>
        </p:nvSpPr>
        <p:spPr>
          <a:xfrm>
            <a:off x="371475" y="257175"/>
            <a:ext cx="7358063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>
                <a:solidFill>
                  <a:srgbClr val="111111"/>
                </a:solidFill>
              </a:defRPr>
            </a:pPr>
            <a:r>
              <a:rPr sz="1913">
                <a:solidFill>
                  <a:srgbClr val="111111"/>
                </a:solidFill>
              </a:rPr>
              <a:t>Архітектура створеного програмного забезпечення</a:t>
            </a: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8906" y="1125271"/>
            <a:ext cx="4383075" cy="290036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31A14DA-B025-4FFF-BA45-4407190461D6}"/>
              </a:ext>
            </a:extLst>
          </p:cNvPr>
          <p:cNvSpPr>
            <a:spLocks noGrp="1"/>
          </p:cNvSpPr>
          <p:nvPr/>
        </p:nvSpPr>
        <p:spPr>
          <a:xfrm>
            <a:off x="4572000" y="1121461"/>
            <a:ext cx="45719" cy="935831"/>
          </a:xfrm>
          <a:prstGeom prst="rect">
            <a:avLst/>
          </a:prstGeom>
          <a:solidFill>
            <a:srgbClr val="0097C7"/>
          </a:solidFill>
          <a:ln w="0">
            <a:solidFill>
              <a:srgbClr val="0097C7"/>
            </a:solidFill>
            <a:prstDash val="solid"/>
          </a:ln>
        </p:spPr>
        <p:txBody>
          <a:bodyPr/>
          <a:lstStyle/>
          <a:p>
            <a:endParaRPr lang="en-UA" sz="105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FA594F-B070-407D-82B4-B866FBCCC79E}"/>
              </a:ext>
            </a:extLst>
          </p:cNvPr>
          <p:cNvSpPr>
            <a:spLocks noGrp="1"/>
          </p:cNvSpPr>
          <p:nvPr/>
        </p:nvSpPr>
        <p:spPr>
          <a:xfrm>
            <a:off x="4707731" y="1185808"/>
            <a:ext cx="1557338" cy="2143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11111"/>
                </a:solidFill>
              </a:defRPr>
            </a:pPr>
            <a:r>
              <a:rPr sz="1238" b="1">
                <a:solidFill>
                  <a:srgbClr val="111111"/>
                </a:solidFill>
              </a:rPr>
              <a:t>Клієнт і API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CE8CA1-A9A4-45EA-981B-175476E9526D}"/>
              </a:ext>
            </a:extLst>
          </p:cNvPr>
          <p:cNvSpPr>
            <a:spLocks noGrp="1"/>
          </p:cNvSpPr>
          <p:nvPr/>
        </p:nvSpPr>
        <p:spPr>
          <a:xfrm>
            <a:off x="4707731" y="1464415"/>
            <a:ext cx="1418431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111111"/>
                </a:solidFill>
              </a:defRPr>
            </a:pPr>
            <a:r>
              <a:rPr sz="844">
                <a:solidFill>
                  <a:srgbClr val="111111"/>
                </a:solidFill>
              </a:rPr>
              <a:t>App надсилає HTTP-запити. API Gateway маршрутизує їх до API Handler Lambda.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D5B987-763E-4847-B593-2188B4CD05BB}"/>
              </a:ext>
            </a:extLst>
          </p:cNvPr>
          <p:cNvSpPr>
            <a:spLocks noGrp="1"/>
          </p:cNvSpPr>
          <p:nvPr/>
        </p:nvSpPr>
        <p:spPr>
          <a:xfrm>
            <a:off x="6643687" y="1121461"/>
            <a:ext cx="45719" cy="935831"/>
          </a:xfrm>
          <a:prstGeom prst="rect">
            <a:avLst/>
          </a:prstGeom>
          <a:solidFill>
            <a:srgbClr val="F3B400"/>
          </a:solidFill>
          <a:ln w="0">
            <a:solidFill>
              <a:srgbClr val="F3B400"/>
            </a:solidFill>
            <a:prstDash val="solid"/>
          </a:ln>
        </p:spPr>
        <p:txBody>
          <a:bodyPr/>
          <a:lstStyle/>
          <a:p>
            <a:endParaRPr lang="en-UA" sz="105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6FF95B-ED15-456A-8023-581E7079BDD6}"/>
              </a:ext>
            </a:extLst>
          </p:cNvPr>
          <p:cNvSpPr>
            <a:spLocks noGrp="1"/>
          </p:cNvSpPr>
          <p:nvPr/>
        </p:nvSpPr>
        <p:spPr>
          <a:xfrm>
            <a:off x="6800849" y="1192951"/>
            <a:ext cx="1557338" cy="2143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11111"/>
                </a:solidFill>
              </a:defRPr>
            </a:pPr>
            <a:r>
              <a:rPr sz="1238" b="1">
                <a:solidFill>
                  <a:srgbClr val="111111"/>
                </a:solidFill>
              </a:rPr>
              <a:t>Основні дані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8F03F4-9DF5-4E69-A681-90A42E19A330}"/>
              </a:ext>
            </a:extLst>
          </p:cNvPr>
          <p:cNvSpPr>
            <a:spLocks noGrp="1"/>
          </p:cNvSpPr>
          <p:nvPr/>
        </p:nvSpPr>
        <p:spPr>
          <a:xfrm>
            <a:off x="6793704" y="1471558"/>
            <a:ext cx="170735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111111"/>
                </a:solidFill>
              </a:defRPr>
            </a:pPr>
            <a:r>
              <a:rPr sz="844">
                <a:solidFill>
                  <a:srgbClr val="111111"/>
                </a:solidFill>
              </a:rPr>
              <a:t>DynamoDB зберігає користувачів, локації, меню, столи, резервації та feedback.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6091617-FF27-4F5D-80A7-0F164540BAA1}"/>
              </a:ext>
            </a:extLst>
          </p:cNvPr>
          <p:cNvSpPr>
            <a:spLocks noGrp="1"/>
          </p:cNvSpPr>
          <p:nvPr/>
        </p:nvSpPr>
        <p:spPr>
          <a:xfrm>
            <a:off x="4572000" y="2157305"/>
            <a:ext cx="45719" cy="935830"/>
          </a:xfrm>
          <a:prstGeom prst="rect">
            <a:avLst/>
          </a:prstGeom>
          <a:solidFill>
            <a:srgbClr val="6B7D16"/>
          </a:solidFill>
          <a:ln w="0">
            <a:solidFill>
              <a:srgbClr val="6B7D16"/>
            </a:solidFill>
            <a:prstDash val="solid"/>
          </a:ln>
        </p:spPr>
        <p:txBody>
          <a:bodyPr/>
          <a:lstStyle/>
          <a:p>
            <a:endParaRPr lang="en-UA" sz="105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18571B3-262C-4063-A183-8596D1D44ECD}"/>
              </a:ext>
            </a:extLst>
          </p:cNvPr>
          <p:cNvSpPr>
            <a:spLocks noGrp="1"/>
          </p:cNvSpPr>
          <p:nvPr/>
        </p:nvSpPr>
        <p:spPr>
          <a:xfrm>
            <a:off x="4653438" y="2178735"/>
            <a:ext cx="1928812" cy="2143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11111"/>
                </a:solidFill>
              </a:defRPr>
            </a:pPr>
            <a:r>
              <a:rPr sz="1238" b="1">
                <a:solidFill>
                  <a:srgbClr val="111111"/>
                </a:solidFill>
              </a:rPr>
              <a:t>SQS і Reports Handler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AD13EB2-2D10-432B-AEFD-98AE49BA9A81}"/>
              </a:ext>
            </a:extLst>
          </p:cNvPr>
          <p:cNvSpPr>
            <a:spLocks noGrp="1"/>
          </p:cNvSpPr>
          <p:nvPr/>
        </p:nvSpPr>
        <p:spPr>
          <a:xfrm>
            <a:off x="4707731" y="2428913"/>
            <a:ext cx="1857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111111"/>
                </a:solidFill>
              </a:defRPr>
            </a:pPr>
            <a:r>
              <a:rPr sz="844">
                <a:solidFill>
                  <a:srgbClr val="111111"/>
                </a:solidFill>
              </a:rPr>
              <a:t>SQS приймає аналітичні повідомлення. Lambda reports_handler створює ORDER / SHIFT записи.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D4FD94F-611A-4170-A1FD-B2E5B09122D1}"/>
              </a:ext>
            </a:extLst>
          </p:cNvPr>
          <p:cNvSpPr>
            <a:spLocks noGrp="1"/>
          </p:cNvSpPr>
          <p:nvPr/>
        </p:nvSpPr>
        <p:spPr>
          <a:xfrm>
            <a:off x="6643687" y="2157305"/>
            <a:ext cx="35719" cy="828675"/>
          </a:xfrm>
          <a:prstGeom prst="rect">
            <a:avLst/>
          </a:prstGeom>
          <a:solidFill>
            <a:srgbClr val="008FA3"/>
          </a:solidFill>
          <a:ln w="0">
            <a:solidFill>
              <a:srgbClr val="008FA3"/>
            </a:solidFill>
            <a:prstDash val="solid"/>
          </a:ln>
        </p:spPr>
        <p:txBody>
          <a:bodyPr/>
          <a:lstStyle/>
          <a:p>
            <a:endParaRPr lang="en-UA" sz="105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F4DAD75-B592-494C-8611-3ADC6ACE8E38}"/>
              </a:ext>
            </a:extLst>
          </p:cNvPr>
          <p:cNvSpPr>
            <a:spLocks noGrp="1"/>
          </p:cNvSpPr>
          <p:nvPr/>
        </p:nvSpPr>
        <p:spPr>
          <a:xfrm>
            <a:off x="6740843" y="2190856"/>
            <a:ext cx="1557338" cy="2143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11111"/>
                </a:solidFill>
              </a:defRPr>
            </a:pPr>
            <a:r>
              <a:rPr sz="1238" b="1">
                <a:solidFill>
                  <a:srgbClr val="111111"/>
                </a:solidFill>
              </a:rPr>
              <a:t>Reports Table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67069A2-EDB4-4642-AFCF-EBF020B62BB0}"/>
              </a:ext>
            </a:extLst>
          </p:cNvPr>
          <p:cNvSpPr>
            <a:spLocks noGrp="1"/>
          </p:cNvSpPr>
          <p:nvPr/>
        </p:nvSpPr>
        <p:spPr>
          <a:xfrm>
            <a:off x="6775510" y="2438720"/>
            <a:ext cx="155733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111111"/>
                </a:solidFill>
              </a:defRPr>
            </a:pPr>
            <a:r>
              <a:rPr sz="844">
                <a:solidFill>
                  <a:srgbClr val="111111"/>
                </a:solidFill>
              </a:rPr>
              <a:t>Окрема таблиця Reports містить нормалізовані дані для waiter performance і location comparison.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8ADE834-C169-4900-93BB-71656A1FC3BC}"/>
              </a:ext>
            </a:extLst>
          </p:cNvPr>
          <p:cNvSpPr>
            <a:spLocks noGrp="1"/>
          </p:cNvSpPr>
          <p:nvPr/>
        </p:nvSpPr>
        <p:spPr>
          <a:xfrm>
            <a:off x="4575648" y="3193147"/>
            <a:ext cx="49680" cy="935830"/>
          </a:xfrm>
          <a:prstGeom prst="rect">
            <a:avLst/>
          </a:prstGeom>
          <a:solidFill>
            <a:srgbClr val="8A5A13"/>
          </a:solidFill>
          <a:ln w="0">
            <a:solidFill>
              <a:srgbClr val="8A5A13"/>
            </a:solidFill>
            <a:prstDash val="solid"/>
          </a:ln>
        </p:spPr>
        <p:txBody>
          <a:bodyPr/>
          <a:lstStyle/>
          <a:p>
            <a:endParaRPr lang="en-UA" sz="105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122D43E-9771-4932-8111-746ECB035277}"/>
              </a:ext>
            </a:extLst>
          </p:cNvPr>
          <p:cNvSpPr>
            <a:spLocks noGrp="1"/>
          </p:cNvSpPr>
          <p:nvPr/>
        </p:nvSpPr>
        <p:spPr>
          <a:xfrm>
            <a:off x="4707731" y="3254799"/>
            <a:ext cx="1557338" cy="2143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11111"/>
                </a:solidFill>
              </a:defRPr>
            </a:pPr>
            <a:r>
              <a:rPr sz="1238" b="1">
                <a:solidFill>
                  <a:srgbClr val="111111"/>
                </a:solidFill>
              </a:rPr>
              <a:t>EventBridge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2981613-41B0-4E91-B45F-F23BD4A2171F}"/>
              </a:ext>
            </a:extLst>
          </p:cNvPr>
          <p:cNvSpPr>
            <a:spLocks noGrp="1"/>
          </p:cNvSpPr>
          <p:nvPr/>
        </p:nvSpPr>
        <p:spPr>
          <a:xfrm>
            <a:off x="4707731" y="3526743"/>
            <a:ext cx="187880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111111"/>
                </a:solidFill>
              </a:defRPr>
            </a:pPr>
            <a:r>
              <a:rPr sz="844">
                <a:solidFill>
                  <a:srgbClr val="111111"/>
                </a:solidFill>
              </a:rPr>
              <a:t>weekly-report-trigger запускає планову відправку звіту без ручної дії адміністратора.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B84898D-249A-46F6-9EC9-76BD885D399E}"/>
              </a:ext>
            </a:extLst>
          </p:cNvPr>
          <p:cNvSpPr>
            <a:spLocks noGrp="1"/>
          </p:cNvSpPr>
          <p:nvPr/>
        </p:nvSpPr>
        <p:spPr>
          <a:xfrm>
            <a:off x="6643687" y="3193149"/>
            <a:ext cx="45719" cy="935828"/>
          </a:xfrm>
          <a:prstGeom prst="rect">
            <a:avLst/>
          </a:prstGeom>
          <a:solidFill>
            <a:srgbClr val="CDA26D"/>
          </a:solidFill>
          <a:ln w="0">
            <a:solidFill>
              <a:srgbClr val="CDA26D"/>
            </a:solidFill>
            <a:prstDash val="solid"/>
          </a:ln>
        </p:spPr>
        <p:txBody>
          <a:bodyPr/>
          <a:lstStyle/>
          <a:p>
            <a:endParaRPr lang="en-UA" sz="105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5FAA9EA-7F7F-43B1-899E-E7E7402C1C2A}"/>
              </a:ext>
            </a:extLst>
          </p:cNvPr>
          <p:cNvSpPr>
            <a:spLocks noGrp="1"/>
          </p:cNvSpPr>
          <p:nvPr/>
        </p:nvSpPr>
        <p:spPr>
          <a:xfrm>
            <a:off x="6735125" y="3237043"/>
            <a:ext cx="1921667" cy="2143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11111"/>
                </a:solidFill>
              </a:defRPr>
            </a:pPr>
            <a:r>
              <a:rPr sz="1238" b="1">
                <a:solidFill>
                  <a:srgbClr val="111111"/>
                </a:solidFill>
              </a:rPr>
              <a:t>Reports Sender і SES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D9CAA7C-AAEF-488E-93F9-A2655A90E625}"/>
              </a:ext>
            </a:extLst>
          </p:cNvPr>
          <p:cNvSpPr>
            <a:spLocks noGrp="1"/>
          </p:cNvSpPr>
          <p:nvPr/>
        </p:nvSpPr>
        <p:spPr>
          <a:xfrm>
            <a:off x="6775510" y="3517757"/>
            <a:ext cx="155733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111111"/>
                </a:solidFill>
              </a:defRPr>
            </a:pPr>
            <a:r>
              <a:rPr sz="844">
                <a:solidFill>
                  <a:srgbClr val="111111"/>
                </a:solidFill>
              </a:rPr>
              <a:t>reports_sender агрегує дані за період, формує CSV і надсилає лист через SES.</a:t>
            </a:r>
          </a:p>
        </p:txBody>
      </p:sp>
      <p:pic>
        <p:nvPicPr>
          <p:cNvPr id="32" name="Google Shape;64;p13">
            <a:extLst>
              <a:ext uri="{FF2B5EF4-FFF2-40B4-BE49-F238E27FC236}">
                <a16:creationId xmlns:a16="http://schemas.microsoft.com/office/drawing/2014/main" id="{10E0ECD9-1E22-13C8-9BCB-1DC9E9CE201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8925" y="4368831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4FE62F79-329E-2A4F-BDFB-DF58808FC5D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6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4446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01793EB-B763-480C-8934-DEA698AE58DB}"/>
              </a:ext>
            </a:extLst>
          </p:cNvPr>
          <p:cNvSpPr>
            <a:spLocks noGrp="1"/>
          </p:cNvSpPr>
          <p:nvPr/>
        </p:nvSpPr>
        <p:spPr>
          <a:xfrm>
            <a:off x="371475" y="257175"/>
            <a:ext cx="7358063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>
                <a:solidFill>
                  <a:srgbClr val="111111"/>
                </a:solidFill>
              </a:defRPr>
            </a:pPr>
            <a:r>
              <a:rPr sz="1913">
                <a:solidFill>
                  <a:srgbClr val="111111"/>
                </a:solidFill>
              </a:rPr>
              <a:t>Аналітична модель даних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9E38DB-1EEE-4701-9E2C-D8A8F3B8F106}"/>
              </a:ext>
            </a:extLst>
          </p:cNvPr>
          <p:cNvSpPr>
            <a:spLocks noGrp="1"/>
          </p:cNvSpPr>
          <p:nvPr/>
        </p:nvSpPr>
        <p:spPr>
          <a:xfrm>
            <a:off x="514350" y="1000125"/>
            <a:ext cx="2357438" cy="1214438"/>
          </a:xfrm>
          <a:prstGeom prst="rect">
            <a:avLst/>
          </a:prstGeom>
          <a:solidFill>
            <a:srgbClr val="F8F8F8"/>
          </a:solidFill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A" sz="10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C9A446-064B-4486-8144-67B15C6B7853}"/>
              </a:ext>
            </a:extLst>
          </p:cNvPr>
          <p:cNvSpPr>
            <a:spLocks noGrp="1"/>
          </p:cNvSpPr>
          <p:nvPr/>
        </p:nvSpPr>
        <p:spPr>
          <a:xfrm>
            <a:off x="514350" y="1000125"/>
            <a:ext cx="35719" cy="1214438"/>
          </a:xfrm>
          <a:prstGeom prst="rect">
            <a:avLst/>
          </a:prstGeom>
          <a:solidFill>
            <a:srgbClr val="F3B400"/>
          </a:solidFill>
          <a:ln w="0">
            <a:solidFill>
              <a:srgbClr val="F3B400"/>
            </a:solidFill>
            <a:prstDash val="solid"/>
          </a:ln>
        </p:spPr>
        <p:txBody>
          <a:bodyPr/>
          <a:lstStyle/>
          <a:p>
            <a:endParaRPr lang="en-UA" sz="10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4CCE2A-8523-4FC8-B175-7FE0CC801610}"/>
              </a:ext>
            </a:extLst>
          </p:cNvPr>
          <p:cNvSpPr>
            <a:spLocks noGrp="1"/>
          </p:cNvSpPr>
          <p:nvPr/>
        </p:nvSpPr>
        <p:spPr>
          <a:xfrm>
            <a:off x="671513" y="1128712"/>
            <a:ext cx="2057400" cy="2143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11111"/>
                </a:solidFill>
              </a:defRPr>
            </a:pPr>
            <a:r>
              <a:rPr sz="1238" b="1">
                <a:solidFill>
                  <a:srgbClr val="111111"/>
                </a:solidFill>
              </a:rPr>
              <a:t>Reservations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D9E3B8-7908-477B-96E7-C36B89A9E6C9}"/>
              </a:ext>
            </a:extLst>
          </p:cNvPr>
          <p:cNvSpPr>
            <a:spLocks noGrp="1"/>
          </p:cNvSpPr>
          <p:nvPr/>
        </p:nvSpPr>
        <p:spPr>
          <a:xfrm>
            <a:off x="671513" y="1443037"/>
            <a:ext cx="2057400" cy="6715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111111"/>
                </a:solidFill>
              </a:defRPr>
            </a:pPr>
            <a:r>
              <a:rPr sz="956">
                <a:solidFill>
                  <a:srgbClr val="111111"/>
                </a:solidFill>
              </a:rPr>
              <a:t>Основна подія сервісу: дата, час, кількість гостей, table_id, waiter_id, location_id, статус і pre_order.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F2D75F-A733-4A80-8380-70C44CBAAA60}"/>
              </a:ext>
            </a:extLst>
          </p:cNvPr>
          <p:cNvSpPr>
            <a:spLocks noGrp="1"/>
          </p:cNvSpPr>
          <p:nvPr/>
        </p:nvSpPr>
        <p:spPr>
          <a:xfrm>
            <a:off x="3393281" y="1000125"/>
            <a:ext cx="2357438" cy="1214438"/>
          </a:xfrm>
          <a:prstGeom prst="rect">
            <a:avLst/>
          </a:prstGeom>
          <a:solidFill>
            <a:srgbClr val="F8F8F8"/>
          </a:solidFill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A" sz="10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E397D5-52DE-4227-88B4-45DFC5704EFE}"/>
              </a:ext>
            </a:extLst>
          </p:cNvPr>
          <p:cNvSpPr>
            <a:spLocks noGrp="1"/>
          </p:cNvSpPr>
          <p:nvPr/>
        </p:nvSpPr>
        <p:spPr>
          <a:xfrm>
            <a:off x="3393282" y="1000125"/>
            <a:ext cx="35719" cy="1214438"/>
          </a:xfrm>
          <a:prstGeom prst="rect">
            <a:avLst/>
          </a:prstGeom>
          <a:solidFill>
            <a:srgbClr val="0097C7"/>
          </a:solidFill>
          <a:ln w="0">
            <a:solidFill>
              <a:srgbClr val="0097C7"/>
            </a:solidFill>
            <a:prstDash val="solid"/>
          </a:ln>
        </p:spPr>
        <p:txBody>
          <a:bodyPr/>
          <a:lstStyle/>
          <a:p>
            <a:endParaRPr lang="en-UA" sz="105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3458F7-1DD5-4E0A-84EF-F623EC598BD4}"/>
              </a:ext>
            </a:extLst>
          </p:cNvPr>
          <p:cNvSpPr>
            <a:spLocks noGrp="1"/>
          </p:cNvSpPr>
          <p:nvPr/>
        </p:nvSpPr>
        <p:spPr>
          <a:xfrm>
            <a:off x="3550444" y="1128712"/>
            <a:ext cx="2057400" cy="2143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11111"/>
                </a:solidFill>
              </a:defRPr>
            </a:pPr>
            <a:r>
              <a:rPr sz="1238" b="1">
                <a:solidFill>
                  <a:srgbClr val="111111"/>
                </a:solidFill>
              </a:rPr>
              <a:t>LocationFeedbacks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F924E6-8BB6-4B9C-A183-753A46BD8DD2}"/>
              </a:ext>
            </a:extLst>
          </p:cNvPr>
          <p:cNvSpPr>
            <a:spLocks noGrp="1"/>
          </p:cNvSpPr>
          <p:nvPr/>
        </p:nvSpPr>
        <p:spPr>
          <a:xfrm>
            <a:off x="3550444" y="1443037"/>
            <a:ext cx="2057400" cy="6715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111111"/>
                </a:solidFill>
              </a:defRPr>
            </a:pPr>
            <a:r>
              <a:rPr sz="956">
                <a:solidFill>
                  <a:srgbClr val="111111"/>
                </a:solidFill>
              </a:rPr>
              <a:t>Після відвідування клієнт залишає SERVICE або CUISINE feedback, який прив’язується до reservation_id.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21234FA-660D-4809-8301-F9C5883CAC4A}"/>
              </a:ext>
            </a:extLst>
          </p:cNvPr>
          <p:cNvSpPr>
            <a:spLocks noGrp="1"/>
          </p:cNvSpPr>
          <p:nvPr/>
        </p:nvSpPr>
        <p:spPr>
          <a:xfrm>
            <a:off x="6272212" y="1000125"/>
            <a:ext cx="2357438" cy="1214438"/>
          </a:xfrm>
          <a:prstGeom prst="rect">
            <a:avLst/>
          </a:prstGeom>
          <a:solidFill>
            <a:srgbClr val="F8F8F8"/>
          </a:solidFill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A" sz="10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04B643-3208-4395-9057-7BDAFCCBD816}"/>
              </a:ext>
            </a:extLst>
          </p:cNvPr>
          <p:cNvSpPr>
            <a:spLocks noGrp="1"/>
          </p:cNvSpPr>
          <p:nvPr/>
        </p:nvSpPr>
        <p:spPr>
          <a:xfrm>
            <a:off x="6272213" y="1000125"/>
            <a:ext cx="35719" cy="1214438"/>
          </a:xfrm>
          <a:prstGeom prst="rect">
            <a:avLst/>
          </a:prstGeom>
          <a:solidFill>
            <a:srgbClr val="6B7D16"/>
          </a:solidFill>
          <a:ln w="0">
            <a:solidFill>
              <a:srgbClr val="6B7D16"/>
            </a:solidFill>
            <a:prstDash val="solid"/>
          </a:ln>
        </p:spPr>
        <p:txBody>
          <a:bodyPr/>
          <a:lstStyle/>
          <a:p>
            <a:endParaRPr lang="en-UA" sz="10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27ADF6C-6B9B-46E1-A3D7-668A31BE4CDA}"/>
              </a:ext>
            </a:extLst>
          </p:cNvPr>
          <p:cNvSpPr>
            <a:spLocks noGrp="1"/>
          </p:cNvSpPr>
          <p:nvPr/>
        </p:nvSpPr>
        <p:spPr>
          <a:xfrm>
            <a:off x="6429375" y="1128712"/>
            <a:ext cx="2057400" cy="2143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11111"/>
                </a:solidFill>
              </a:defRPr>
            </a:pPr>
            <a:r>
              <a:rPr sz="1238" b="1">
                <a:solidFill>
                  <a:srgbClr val="111111"/>
                </a:solidFill>
              </a:rPr>
              <a:t>Reports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D1BFE97-4307-4B17-8940-87B607A15CBD}"/>
              </a:ext>
            </a:extLst>
          </p:cNvPr>
          <p:cNvSpPr>
            <a:spLocks noGrp="1"/>
          </p:cNvSpPr>
          <p:nvPr/>
        </p:nvSpPr>
        <p:spPr>
          <a:xfrm>
            <a:off x="6429375" y="1443037"/>
            <a:ext cx="2057400" cy="6715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111111"/>
                </a:solidFill>
              </a:defRPr>
            </a:pPr>
            <a:r>
              <a:rPr sz="956">
                <a:solidFill>
                  <a:srgbClr val="111111"/>
                </a:solidFill>
              </a:rPr>
              <a:t>Аналітичний шар з ORDER і SHIFT записами. Він не дублює всю систему, а зберігає дані, потрібні для звітів.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116812E-1767-4E11-AB1F-42C2BBBD1E7A}"/>
              </a:ext>
            </a:extLst>
          </p:cNvPr>
          <p:cNvSpPr>
            <a:spLocks noGrp="1"/>
          </p:cNvSpPr>
          <p:nvPr/>
        </p:nvSpPr>
        <p:spPr>
          <a:xfrm>
            <a:off x="485775" y="2668190"/>
            <a:ext cx="1457325" cy="700088"/>
          </a:xfrm>
          <a:prstGeom prst="rect">
            <a:avLst/>
          </a:prstGeom>
          <a:solidFill>
            <a:srgbClr val="FAFAFA"/>
          </a:solidFill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A" sz="10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6A660F9-89D2-432B-9181-261EFE0FEC25}"/>
              </a:ext>
            </a:extLst>
          </p:cNvPr>
          <p:cNvSpPr>
            <a:spLocks noGrp="1"/>
          </p:cNvSpPr>
          <p:nvPr/>
        </p:nvSpPr>
        <p:spPr>
          <a:xfrm>
            <a:off x="585788" y="2753916"/>
            <a:ext cx="1257300" cy="178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11111"/>
                </a:solidFill>
              </a:defRPr>
            </a:pPr>
            <a:r>
              <a:rPr sz="1013" b="1">
                <a:solidFill>
                  <a:srgbClr val="111111"/>
                </a:solidFill>
              </a:rPr>
              <a:t>Reservation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F5A4921-54C8-4123-9F67-3368EEE170C6}"/>
              </a:ext>
            </a:extLst>
          </p:cNvPr>
          <p:cNvSpPr>
            <a:spLocks noGrp="1"/>
          </p:cNvSpPr>
          <p:nvPr/>
        </p:nvSpPr>
        <p:spPr>
          <a:xfrm>
            <a:off x="585788" y="2975372"/>
            <a:ext cx="1257300" cy="3071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454545"/>
                </a:solidFill>
              </a:defRPr>
            </a:pPr>
            <a:r>
              <a:rPr sz="788">
                <a:solidFill>
                  <a:srgbClr val="454545"/>
                </a:solidFill>
              </a:rPr>
              <a:t>бронювання має waiter_id і location_id</a:t>
            </a:r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56221D25-FDCF-4AD3-AE7B-DA3F65D1A022}"/>
              </a:ext>
            </a:extLst>
          </p:cNvPr>
          <p:cNvSpPr>
            <a:spLocks noGrp="1"/>
          </p:cNvSpPr>
          <p:nvPr/>
        </p:nvSpPr>
        <p:spPr>
          <a:xfrm>
            <a:off x="1978819" y="2918222"/>
            <a:ext cx="142875" cy="200025"/>
          </a:xfrm>
          <a:prstGeom prst="rightArrow">
            <a:avLst/>
          </a:prstGeom>
          <a:solidFill>
            <a:srgbClr val="CDA26D"/>
          </a:solidFill>
          <a:ln w="0">
            <a:solidFill>
              <a:srgbClr val="CDA26D"/>
            </a:solidFill>
            <a:prstDash val="solid"/>
          </a:ln>
        </p:spPr>
        <p:txBody>
          <a:bodyPr/>
          <a:lstStyle/>
          <a:p>
            <a:endParaRPr lang="en-UA" sz="105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4FE954-A6ED-4F34-B516-BD78AB0F9EA5}"/>
              </a:ext>
            </a:extLst>
          </p:cNvPr>
          <p:cNvSpPr>
            <a:spLocks noGrp="1"/>
          </p:cNvSpPr>
          <p:nvPr/>
        </p:nvSpPr>
        <p:spPr>
          <a:xfrm>
            <a:off x="2157413" y="2668190"/>
            <a:ext cx="1457325" cy="700088"/>
          </a:xfrm>
          <a:prstGeom prst="rect">
            <a:avLst/>
          </a:prstGeom>
          <a:solidFill>
            <a:srgbClr val="FAFAFA"/>
          </a:solidFill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A" sz="105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385470-A519-4C65-BA2E-51A9C190257F}"/>
              </a:ext>
            </a:extLst>
          </p:cNvPr>
          <p:cNvSpPr>
            <a:spLocks noGrp="1"/>
          </p:cNvSpPr>
          <p:nvPr/>
        </p:nvSpPr>
        <p:spPr>
          <a:xfrm>
            <a:off x="2257425" y="2753916"/>
            <a:ext cx="1257300" cy="178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11111"/>
                </a:solidFill>
              </a:defRPr>
            </a:pPr>
            <a:r>
              <a:rPr sz="1013" b="1">
                <a:solidFill>
                  <a:srgbClr val="111111"/>
                </a:solidFill>
              </a:rPr>
              <a:t>Feedback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5C8A746-CEAA-441D-927D-600DE506019C}"/>
              </a:ext>
            </a:extLst>
          </p:cNvPr>
          <p:cNvSpPr>
            <a:spLocks noGrp="1"/>
          </p:cNvSpPr>
          <p:nvPr/>
        </p:nvSpPr>
        <p:spPr>
          <a:xfrm>
            <a:off x="2257425" y="2975372"/>
            <a:ext cx="1257300" cy="3071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454545"/>
                </a:solidFill>
              </a:defRPr>
            </a:pPr>
            <a:r>
              <a:rPr sz="788">
                <a:solidFill>
                  <a:srgbClr val="454545"/>
                </a:solidFill>
              </a:rPr>
              <a:t>оцінка сервісу або кухні</a:t>
            </a:r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9CAEC276-4FFF-40CB-A17B-D4EDE65B122B}"/>
              </a:ext>
            </a:extLst>
          </p:cNvPr>
          <p:cNvSpPr>
            <a:spLocks noGrp="1"/>
          </p:cNvSpPr>
          <p:nvPr/>
        </p:nvSpPr>
        <p:spPr>
          <a:xfrm>
            <a:off x="3650456" y="2918222"/>
            <a:ext cx="142875" cy="200025"/>
          </a:xfrm>
          <a:prstGeom prst="rightArrow">
            <a:avLst/>
          </a:prstGeom>
          <a:solidFill>
            <a:srgbClr val="CDA26D"/>
          </a:solidFill>
          <a:ln w="0">
            <a:solidFill>
              <a:srgbClr val="CDA26D"/>
            </a:solidFill>
            <a:prstDash val="solid"/>
          </a:ln>
        </p:spPr>
        <p:txBody>
          <a:bodyPr/>
          <a:lstStyle/>
          <a:p>
            <a:endParaRPr lang="en-UA" sz="105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14D5C6D-DF8F-42AD-BD12-13B7DC58DDD0}"/>
              </a:ext>
            </a:extLst>
          </p:cNvPr>
          <p:cNvSpPr>
            <a:spLocks noGrp="1"/>
          </p:cNvSpPr>
          <p:nvPr/>
        </p:nvSpPr>
        <p:spPr>
          <a:xfrm>
            <a:off x="3829050" y="2668190"/>
            <a:ext cx="1457325" cy="700088"/>
          </a:xfrm>
          <a:prstGeom prst="rect">
            <a:avLst/>
          </a:prstGeom>
          <a:solidFill>
            <a:srgbClr val="FAFAFA"/>
          </a:solidFill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A" sz="105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0EF03C9-E3E1-439A-B895-ACF4458EE618}"/>
              </a:ext>
            </a:extLst>
          </p:cNvPr>
          <p:cNvSpPr>
            <a:spLocks noGrp="1"/>
          </p:cNvSpPr>
          <p:nvPr/>
        </p:nvSpPr>
        <p:spPr>
          <a:xfrm>
            <a:off x="3929063" y="2753916"/>
            <a:ext cx="1257300" cy="178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11111"/>
                </a:solidFill>
              </a:defRPr>
            </a:pPr>
            <a:r>
              <a:rPr sz="1013" b="1">
                <a:solidFill>
                  <a:srgbClr val="111111"/>
                </a:solidFill>
              </a:rPr>
              <a:t>SQS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542821A-4304-41F2-9DC7-54ECF176893E}"/>
              </a:ext>
            </a:extLst>
          </p:cNvPr>
          <p:cNvSpPr>
            <a:spLocks noGrp="1"/>
          </p:cNvSpPr>
          <p:nvPr/>
        </p:nvSpPr>
        <p:spPr>
          <a:xfrm>
            <a:off x="3929063" y="2975372"/>
            <a:ext cx="1257300" cy="3071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454545"/>
                </a:solidFill>
              </a:defRPr>
            </a:pPr>
            <a:r>
              <a:rPr sz="788">
                <a:solidFill>
                  <a:srgbClr val="454545"/>
                </a:solidFill>
              </a:rPr>
              <a:t>подія передається асинхронно</a:t>
            </a:r>
          </a:p>
        </p:txBody>
      </p:sp>
      <p:sp>
        <p:nvSpPr>
          <p:cNvPr id="28" name="Right Arrow 27">
            <a:extLst>
              <a:ext uri="{FF2B5EF4-FFF2-40B4-BE49-F238E27FC236}">
                <a16:creationId xmlns:a16="http://schemas.microsoft.com/office/drawing/2014/main" id="{40EF8E25-111D-4D76-B0DE-E8755E90FCEF}"/>
              </a:ext>
            </a:extLst>
          </p:cNvPr>
          <p:cNvSpPr>
            <a:spLocks noGrp="1"/>
          </p:cNvSpPr>
          <p:nvPr/>
        </p:nvSpPr>
        <p:spPr>
          <a:xfrm>
            <a:off x="5322094" y="2918222"/>
            <a:ext cx="142875" cy="200025"/>
          </a:xfrm>
          <a:prstGeom prst="rightArrow">
            <a:avLst/>
          </a:prstGeom>
          <a:solidFill>
            <a:srgbClr val="CDA26D"/>
          </a:solidFill>
          <a:ln w="0">
            <a:solidFill>
              <a:srgbClr val="CDA26D"/>
            </a:solidFill>
            <a:prstDash val="solid"/>
          </a:ln>
        </p:spPr>
        <p:txBody>
          <a:bodyPr/>
          <a:lstStyle/>
          <a:p>
            <a:endParaRPr lang="en-UA" sz="105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93FE6D6-C3D6-41B9-91FB-B03228F5AD4B}"/>
              </a:ext>
            </a:extLst>
          </p:cNvPr>
          <p:cNvSpPr>
            <a:spLocks noGrp="1"/>
          </p:cNvSpPr>
          <p:nvPr/>
        </p:nvSpPr>
        <p:spPr>
          <a:xfrm>
            <a:off x="5500688" y="2668190"/>
            <a:ext cx="1457325" cy="700088"/>
          </a:xfrm>
          <a:prstGeom prst="rect">
            <a:avLst/>
          </a:prstGeom>
          <a:solidFill>
            <a:srgbClr val="FAFAFA"/>
          </a:solidFill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A" sz="105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0908B2A-69F5-4A40-B63F-D62A344D496B}"/>
              </a:ext>
            </a:extLst>
          </p:cNvPr>
          <p:cNvSpPr>
            <a:spLocks noGrp="1"/>
          </p:cNvSpPr>
          <p:nvPr/>
        </p:nvSpPr>
        <p:spPr>
          <a:xfrm>
            <a:off x="5600700" y="2753916"/>
            <a:ext cx="1257300" cy="178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11111"/>
                </a:solidFill>
              </a:defRPr>
            </a:pPr>
            <a:r>
              <a:rPr sz="1013" b="1">
                <a:solidFill>
                  <a:srgbClr val="111111"/>
                </a:solidFill>
              </a:rPr>
              <a:t>Reports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6D685D1-B925-4B11-A96E-654560D1895B}"/>
              </a:ext>
            </a:extLst>
          </p:cNvPr>
          <p:cNvSpPr>
            <a:spLocks noGrp="1"/>
          </p:cNvSpPr>
          <p:nvPr/>
        </p:nvSpPr>
        <p:spPr>
          <a:xfrm>
            <a:off x="5600700" y="2975372"/>
            <a:ext cx="1257300" cy="3071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454545"/>
                </a:solidFill>
              </a:defRPr>
            </a:pPr>
            <a:r>
              <a:rPr sz="788">
                <a:solidFill>
                  <a:srgbClr val="454545"/>
                </a:solidFill>
              </a:rPr>
              <a:t>створюється ORDER / SHIFT</a:t>
            </a:r>
          </a:p>
        </p:txBody>
      </p:sp>
      <p:sp>
        <p:nvSpPr>
          <p:cNvPr id="32" name="Right Arrow 31">
            <a:extLst>
              <a:ext uri="{FF2B5EF4-FFF2-40B4-BE49-F238E27FC236}">
                <a16:creationId xmlns:a16="http://schemas.microsoft.com/office/drawing/2014/main" id="{E364C2CA-6181-48FB-8E8B-5BFA88813030}"/>
              </a:ext>
            </a:extLst>
          </p:cNvPr>
          <p:cNvSpPr>
            <a:spLocks noGrp="1"/>
          </p:cNvSpPr>
          <p:nvPr/>
        </p:nvSpPr>
        <p:spPr>
          <a:xfrm>
            <a:off x="6993731" y="2918222"/>
            <a:ext cx="142875" cy="200025"/>
          </a:xfrm>
          <a:prstGeom prst="rightArrow">
            <a:avLst/>
          </a:prstGeom>
          <a:solidFill>
            <a:srgbClr val="CDA26D"/>
          </a:solidFill>
          <a:ln w="0">
            <a:solidFill>
              <a:srgbClr val="CDA26D"/>
            </a:solidFill>
            <a:prstDash val="solid"/>
          </a:ln>
        </p:spPr>
        <p:txBody>
          <a:bodyPr/>
          <a:lstStyle/>
          <a:p>
            <a:endParaRPr lang="en-UA" sz="105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1467E4A-CB4E-4D15-86B6-F04692679C67}"/>
              </a:ext>
            </a:extLst>
          </p:cNvPr>
          <p:cNvSpPr>
            <a:spLocks noGrp="1"/>
          </p:cNvSpPr>
          <p:nvPr/>
        </p:nvSpPr>
        <p:spPr>
          <a:xfrm>
            <a:off x="7172325" y="2668190"/>
            <a:ext cx="1457325" cy="700088"/>
          </a:xfrm>
          <a:prstGeom prst="rect">
            <a:avLst/>
          </a:prstGeom>
          <a:solidFill>
            <a:srgbClr val="EAF8FB"/>
          </a:solidFill>
          <a:ln w="9525">
            <a:solidFill>
              <a:srgbClr val="008FA3"/>
            </a:solidFill>
            <a:prstDash val="solid"/>
          </a:ln>
        </p:spPr>
        <p:txBody>
          <a:bodyPr/>
          <a:lstStyle/>
          <a:p>
            <a:endParaRPr lang="en-UA" sz="10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D6F1BBD-03E0-43D9-B1E5-0198D0EB5CD8}"/>
              </a:ext>
            </a:extLst>
          </p:cNvPr>
          <p:cNvSpPr>
            <a:spLocks noGrp="1"/>
          </p:cNvSpPr>
          <p:nvPr/>
        </p:nvSpPr>
        <p:spPr>
          <a:xfrm>
            <a:off x="7272338" y="2753916"/>
            <a:ext cx="1257300" cy="178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11111"/>
                </a:solidFill>
              </a:defRPr>
            </a:pPr>
            <a:r>
              <a:rPr sz="1013" b="1">
                <a:solidFill>
                  <a:srgbClr val="111111"/>
                </a:solidFill>
              </a:rPr>
              <a:t>Report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CCAB24C-B89B-4481-A6C3-E4645073B228}"/>
              </a:ext>
            </a:extLst>
          </p:cNvPr>
          <p:cNvSpPr>
            <a:spLocks noGrp="1"/>
          </p:cNvSpPr>
          <p:nvPr/>
        </p:nvSpPr>
        <p:spPr>
          <a:xfrm>
            <a:off x="7272338" y="2975372"/>
            <a:ext cx="1257300" cy="3071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454545"/>
                </a:solidFill>
              </a:defRPr>
            </a:pPr>
            <a:r>
              <a:rPr sz="788">
                <a:solidFill>
                  <a:srgbClr val="454545"/>
                </a:solidFill>
              </a:rPr>
              <a:t>агрегація для Admin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B253483-C53E-46B3-BDB9-6517D697E5D4}"/>
              </a:ext>
            </a:extLst>
          </p:cNvPr>
          <p:cNvSpPr>
            <a:spLocks noGrp="1"/>
          </p:cNvSpPr>
          <p:nvPr/>
        </p:nvSpPr>
        <p:spPr>
          <a:xfrm>
            <a:off x="883638" y="3725465"/>
            <a:ext cx="7143750" cy="3571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111"/>
                </a:solidFill>
              </a:defRPr>
            </a:pPr>
            <a:r>
              <a:rPr sz="1238" b="1">
                <a:solidFill>
                  <a:srgbClr val="111111"/>
                </a:solidFill>
              </a:rPr>
              <a:t>Таке розділення дозволяє не рахувати звіти з «сирих» даних щоразу, а працювати з підготовленими аналітичними записами.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62B7EAD-2166-1A18-2DAD-DF478ECE286C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7</a:t>
            </a:fld>
            <a:endParaRPr lang="uk-UA" dirty="0"/>
          </a:p>
        </p:txBody>
      </p:sp>
      <p:pic>
        <p:nvPicPr>
          <p:cNvPr id="40" name="Google Shape;64;p13">
            <a:extLst>
              <a:ext uri="{FF2B5EF4-FFF2-40B4-BE49-F238E27FC236}">
                <a16:creationId xmlns:a16="http://schemas.microsoft.com/office/drawing/2014/main" id="{88833DE2-7F22-FDF0-58C2-763C97D660A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8790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58E7490-AA29-4740-8BA3-2B3E6624F40D}"/>
              </a:ext>
            </a:extLst>
          </p:cNvPr>
          <p:cNvSpPr>
            <a:spLocks noGrp="1"/>
          </p:cNvSpPr>
          <p:nvPr/>
        </p:nvSpPr>
        <p:spPr>
          <a:xfrm>
            <a:off x="371475" y="257175"/>
            <a:ext cx="7358063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>
                <a:solidFill>
                  <a:srgbClr val="111111"/>
                </a:solidFill>
              </a:defRPr>
            </a:pPr>
            <a:r>
              <a:rPr lang="ru-RU" sz="1913">
                <a:solidFill>
                  <a:srgbClr val="111111"/>
                </a:solidFill>
              </a:rPr>
              <a:t>Аналітика</a:t>
            </a:r>
          </a:p>
          <a:p>
            <a:pPr>
              <a:defRPr sz="2550">
                <a:solidFill>
                  <a:srgbClr val="111111"/>
                </a:solidFill>
              </a:defRPr>
            </a:pPr>
            <a:endParaRPr sz="1913">
              <a:solidFill>
                <a:srgbClr val="11111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E711A1-3845-4E08-BAF3-4CD171498074}"/>
              </a:ext>
            </a:extLst>
          </p:cNvPr>
          <p:cNvSpPr>
            <a:spLocks noGrp="1"/>
          </p:cNvSpPr>
          <p:nvPr/>
        </p:nvSpPr>
        <p:spPr>
          <a:xfrm>
            <a:off x="514350" y="1035844"/>
            <a:ext cx="3714750" cy="242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111111"/>
                </a:solidFill>
              </a:defRPr>
            </a:pPr>
            <a:r>
              <a:rPr sz="1406" b="1">
                <a:solidFill>
                  <a:srgbClr val="111111"/>
                </a:solidFill>
              </a:rPr>
              <a:t>Як працює аналітичний ланцюг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D2A1CF-765E-48FD-837C-8FF99A38C7A9}"/>
              </a:ext>
            </a:extLst>
          </p:cNvPr>
          <p:cNvSpPr>
            <a:spLocks noGrp="1"/>
          </p:cNvSpPr>
          <p:nvPr/>
        </p:nvSpPr>
        <p:spPr>
          <a:xfrm>
            <a:off x="457200" y="1393032"/>
            <a:ext cx="1457325" cy="700088"/>
          </a:xfrm>
          <a:prstGeom prst="rect">
            <a:avLst/>
          </a:prstGeom>
          <a:solidFill>
            <a:srgbClr val="FAFAFA"/>
          </a:solidFill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A" sz="10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DB75AE-BAC3-47E9-9948-02F29F271210}"/>
              </a:ext>
            </a:extLst>
          </p:cNvPr>
          <p:cNvSpPr>
            <a:spLocks noGrp="1"/>
          </p:cNvSpPr>
          <p:nvPr/>
        </p:nvSpPr>
        <p:spPr>
          <a:xfrm>
            <a:off x="557213" y="1478757"/>
            <a:ext cx="1257300" cy="178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11111"/>
                </a:solidFill>
              </a:defRPr>
            </a:pPr>
            <a:r>
              <a:rPr sz="1013" b="1">
                <a:solidFill>
                  <a:srgbClr val="111111"/>
                </a:solidFill>
              </a:rPr>
              <a:t>Подія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8417E4-4FBC-4409-8CE8-8FD3B3BA1879}"/>
              </a:ext>
            </a:extLst>
          </p:cNvPr>
          <p:cNvSpPr>
            <a:spLocks noGrp="1"/>
          </p:cNvSpPr>
          <p:nvPr/>
        </p:nvSpPr>
        <p:spPr>
          <a:xfrm>
            <a:off x="557213" y="1700214"/>
            <a:ext cx="1257300" cy="3071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454545"/>
                </a:solidFill>
              </a:defRPr>
            </a:pPr>
            <a:r>
              <a:rPr sz="788">
                <a:solidFill>
                  <a:srgbClr val="454545"/>
                </a:solidFill>
              </a:rPr>
              <a:t>Finished reservation або feedback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9B421B23-0D99-46FB-BDEF-AFED03200C73}"/>
              </a:ext>
            </a:extLst>
          </p:cNvPr>
          <p:cNvSpPr>
            <a:spLocks noGrp="1"/>
          </p:cNvSpPr>
          <p:nvPr/>
        </p:nvSpPr>
        <p:spPr>
          <a:xfrm>
            <a:off x="1950244" y="1643063"/>
            <a:ext cx="142875" cy="200025"/>
          </a:xfrm>
          <a:prstGeom prst="rightArrow">
            <a:avLst/>
          </a:prstGeom>
          <a:solidFill>
            <a:srgbClr val="CDA26D"/>
          </a:solidFill>
          <a:ln w="0">
            <a:solidFill>
              <a:srgbClr val="CDA26D"/>
            </a:solidFill>
            <a:prstDash val="solid"/>
          </a:ln>
        </p:spPr>
        <p:txBody>
          <a:bodyPr/>
          <a:lstStyle/>
          <a:p>
            <a:endParaRPr lang="en-UA" sz="10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961422-3BC2-4FDA-A6DB-5D4C920BC364}"/>
              </a:ext>
            </a:extLst>
          </p:cNvPr>
          <p:cNvSpPr>
            <a:spLocks noGrp="1"/>
          </p:cNvSpPr>
          <p:nvPr/>
        </p:nvSpPr>
        <p:spPr>
          <a:xfrm>
            <a:off x="2128838" y="1393032"/>
            <a:ext cx="1457325" cy="700088"/>
          </a:xfrm>
          <a:prstGeom prst="rect">
            <a:avLst/>
          </a:prstGeom>
          <a:solidFill>
            <a:srgbClr val="FAFAFA"/>
          </a:solidFill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A" sz="105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90F47D-2FEC-492A-B622-1005E5ED9500}"/>
              </a:ext>
            </a:extLst>
          </p:cNvPr>
          <p:cNvSpPr>
            <a:spLocks noGrp="1"/>
          </p:cNvSpPr>
          <p:nvPr/>
        </p:nvSpPr>
        <p:spPr>
          <a:xfrm>
            <a:off x="2228850" y="1478757"/>
            <a:ext cx="1257300" cy="178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11111"/>
                </a:solidFill>
              </a:defRPr>
            </a:pPr>
            <a:r>
              <a:rPr sz="1013" b="1">
                <a:solidFill>
                  <a:srgbClr val="111111"/>
                </a:solidFill>
              </a:rPr>
              <a:t>SQS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9D4CAF-519E-48E2-A8B8-C56F5069E1A4}"/>
              </a:ext>
            </a:extLst>
          </p:cNvPr>
          <p:cNvSpPr>
            <a:spLocks noGrp="1"/>
          </p:cNvSpPr>
          <p:nvPr/>
        </p:nvSpPr>
        <p:spPr>
          <a:xfrm>
            <a:off x="2228850" y="1700214"/>
            <a:ext cx="1257300" cy="3071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454545"/>
                </a:solidFill>
              </a:defRPr>
            </a:pPr>
            <a:r>
              <a:rPr sz="788">
                <a:solidFill>
                  <a:srgbClr val="454545"/>
                </a:solidFill>
              </a:rPr>
              <a:t>повідомлення стає у чергу</a:t>
            </a: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2791BEC0-4301-46EF-A341-8B448B2EE5FE}"/>
              </a:ext>
            </a:extLst>
          </p:cNvPr>
          <p:cNvSpPr>
            <a:spLocks noGrp="1"/>
          </p:cNvSpPr>
          <p:nvPr/>
        </p:nvSpPr>
        <p:spPr>
          <a:xfrm>
            <a:off x="3621881" y="1643063"/>
            <a:ext cx="142875" cy="200025"/>
          </a:xfrm>
          <a:prstGeom prst="rightArrow">
            <a:avLst/>
          </a:prstGeom>
          <a:solidFill>
            <a:srgbClr val="CDA26D"/>
          </a:solidFill>
          <a:ln w="0">
            <a:solidFill>
              <a:srgbClr val="CDA26D"/>
            </a:solidFill>
            <a:prstDash val="solid"/>
          </a:ln>
        </p:spPr>
        <p:txBody>
          <a:bodyPr/>
          <a:lstStyle/>
          <a:p>
            <a:endParaRPr lang="en-UA" sz="10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69CE57-55F0-4C96-B7B1-2653413524C2}"/>
              </a:ext>
            </a:extLst>
          </p:cNvPr>
          <p:cNvSpPr>
            <a:spLocks noGrp="1"/>
          </p:cNvSpPr>
          <p:nvPr/>
        </p:nvSpPr>
        <p:spPr>
          <a:xfrm>
            <a:off x="3800475" y="1393032"/>
            <a:ext cx="1457325" cy="700088"/>
          </a:xfrm>
          <a:prstGeom prst="rect">
            <a:avLst/>
          </a:prstGeom>
          <a:solidFill>
            <a:srgbClr val="FAFAFA"/>
          </a:solidFill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A" sz="10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B4A9065-F1B8-409C-A5F2-BA6C7011D093}"/>
              </a:ext>
            </a:extLst>
          </p:cNvPr>
          <p:cNvSpPr>
            <a:spLocks noGrp="1"/>
          </p:cNvSpPr>
          <p:nvPr/>
        </p:nvSpPr>
        <p:spPr>
          <a:xfrm>
            <a:off x="3900488" y="1478757"/>
            <a:ext cx="1257300" cy="178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11111"/>
                </a:solidFill>
              </a:defRPr>
            </a:pPr>
            <a:r>
              <a:rPr sz="1013" b="1">
                <a:solidFill>
                  <a:srgbClr val="111111"/>
                </a:solidFill>
              </a:rPr>
              <a:t>Handler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09748A-644C-4DD8-B164-68FB90A68453}"/>
              </a:ext>
            </a:extLst>
          </p:cNvPr>
          <p:cNvSpPr>
            <a:spLocks noGrp="1"/>
          </p:cNvSpPr>
          <p:nvPr/>
        </p:nvSpPr>
        <p:spPr>
          <a:xfrm>
            <a:off x="3900488" y="1700214"/>
            <a:ext cx="1257300" cy="3071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454545"/>
                </a:solidFill>
              </a:defRPr>
            </a:pPr>
            <a:r>
              <a:rPr sz="788">
                <a:solidFill>
                  <a:srgbClr val="454545"/>
                </a:solidFill>
              </a:rPr>
              <a:t>створює ORDER / SHIFT</a:t>
            </a:r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B54EFA31-19BD-4BCB-B268-41A1F8643099}"/>
              </a:ext>
            </a:extLst>
          </p:cNvPr>
          <p:cNvSpPr>
            <a:spLocks noGrp="1"/>
          </p:cNvSpPr>
          <p:nvPr/>
        </p:nvSpPr>
        <p:spPr>
          <a:xfrm>
            <a:off x="5293519" y="1643063"/>
            <a:ext cx="142875" cy="200025"/>
          </a:xfrm>
          <a:prstGeom prst="rightArrow">
            <a:avLst/>
          </a:prstGeom>
          <a:solidFill>
            <a:srgbClr val="CDA26D"/>
          </a:solidFill>
          <a:ln w="0">
            <a:solidFill>
              <a:srgbClr val="CDA26D"/>
            </a:solidFill>
            <a:prstDash val="solid"/>
          </a:ln>
        </p:spPr>
        <p:txBody>
          <a:bodyPr/>
          <a:lstStyle/>
          <a:p>
            <a:endParaRPr lang="en-UA" sz="10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662D4B4-EDBB-4A0E-A10C-FD3E27736D34}"/>
              </a:ext>
            </a:extLst>
          </p:cNvPr>
          <p:cNvSpPr>
            <a:spLocks noGrp="1"/>
          </p:cNvSpPr>
          <p:nvPr/>
        </p:nvSpPr>
        <p:spPr>
          <a:xfrm>
            <a:off x="5472113" y="1393032"/>
            <a:ext cx="1457325" cy="700088"/>
          </a:xfrm>
          <a:prstGeom prst="rect">
            <a:avLst/>
          </a:prstGeom>
          <a:solidFill>
            <a:srgbClr val="FAFAFA"/>
          </a:solidFill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A" sz="105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A470E9C-4085-4A0D-AA78-693771A72DC8}"/>
              </a:ext>
            </a:extLst>
          </p:cNvPr>
          <p:cNvSpPr>
            <a:spLocks noGrp="1"/>
          </p:cNvSpPr>
          <p:nvPr/>
        </p:nvSpPr>
        <p:spPr>
          <a:xfrm>
            <a:off x="5572125" y="1478757"/>
            <a:ext cx="1257300" cy="178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11111"/>
                </a:solidFill>
              </a:defRPr>
            </a:pPr>
            <a:r>
              <a:rPr sz="1013" b="1">
                <a:solidFill>
                  <a:srgbClr val="111111"/>
                </a:solidFill>
              </a:rPr>
              <a:t>Reports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EFAACF9-DEAF-43C0-9A23-8A478D535E8C}"/>
              </a:ext>
            </a:extLst>
          </p:cNvPr>
          <p:cNvSpPr>
            <a:spLocks noGrp="1"/>
          </p:cNvSpPr>
          <p:nvPr/>
        </p:nvSpPr>
        <p:spPr>
          <a:xfrm>
            <a:off x="5572125" y="1700214"/>
            <a:ext cx="1257300" cy="3071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454545"/>
                </a:solidFill>
              </a:defRPr>
            </a:pPr>
            <a:r>
              <a:rPr sz="788">
                <a:solidFill>
                  <a:srgbClr val="454545"/>
                </a:solidFill>
              </a:rPr>
              <a:t>зберігає нормалізований запис</a:t>
            </a:r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A161CAC2-F4C4-41BB-BB31-59699557BBB7}"/>
              </a:ext>
            </a:extLst>
          </p:cNvPr>
          <p:cNvSpPr>
            <a:spLocks noGrp="1"/>
          </p:cNvSpPr>
          <p:nvPr/>
        </p:nvSpPr>
        <p:spPr>
          <a:xfrm>
            <a:off x="6965156" y="1643063"/>
            <a:ext cx="142875" cy="200025"/>
          </a:xfrm>
          <a:prstGeom prst="rightArrow">
            <a:avLst/>
          </a:prstGeom>
          <a:solidFill>
            <a:srgbClr val="CDA26D"/>
          </a:solidFill>
          <a:ln w="0">
            <a:solidFill>
              <a:srgbClr val="CDA26D"/>
            </a:solidFill>
            <a:prstDash val="solid"/>
          </a:ln>
        </p:spPr>
        <p:txBody>
          <a:bodyPr/>
          <a:lstStyle/>
          <a:p>
            <a:endParaRPr lang="en-UA" sz="105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A344ADA-07CD-4707-8444-79A9EF9DEF82}"/>
              </a:ext>
            </a:extLst>
          </p:cNvPr>
          <p:cNvSpPr>
            <a:spLocks noGrp="1"/>
          </p:cNvSpPr>
          <p:nvPr/>
        </p:nvSpPr>
        <p:spPr>
          <a:xfrm>
            <a:off x="7143750" y="1393032"/>
            <a:ext cx="1457325" cy="700088"/>
          </a:xfrm>
          <a:prstGeom prst="rect">
            <a:avLst/>
          </a:prstGeom>
          <a:solidFill>
            <a:srgbClr val="EAF8FB"/>
          </a:solidFill>
          <a:ln w="9525">
            <a:solidFill>
              <a:srgbClr val="008FA3"/>
            </a:solidFill>
            <a:prstDash val="solid"/>
          </a:ln>
        </p:spPr>
        <p:txBody>
          <a:bodyPr/>
          <a:lstStyle/>
          <a:p>
            <a:endParaRPr lang="en-UA" sz="105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0F921C5-704D-40D9-81A1-67CDFD8B733B}"/>
              </a:ext>
            </a:extLst>
          </p:cNvPr>
          <p:cNvSpPr>
            <a:spLocks noGrp="1"/>
          </p:cNvSpPr>
          <p:nvPr/>
        </p:nvSpPr>
        <p:spPr>
          <a:xfrm>
            <a:off x="7243763" y="1478757"/>
            <a:ext cx="1257300" cy="178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11111"/>
                </a:solidFill>
              </a:defRPr>
            </a:pPr>
            <a:r>
              <a:rPr sz="1013" b="1">
                <a:solidFill>
                  <a:srgbClr val="111111"/>
                </a:solidFill>
              </a:rPr>
              <a:t>Admin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42120D7-A6EF-43F9-BA05-DEE73E5D58F8}"/>
              </a:ext>
            </a:extLst>
          </p:cNvPr>
          <p:cNvSpPr>
            <a:spLocks noGrp="1"/>
          </p:cNvSpPr>
          <p:nvPr/>
        </p:nvSpPr>
        <p:spPr>
          <a:xfrm>
            <a:off x="7243763" y="1700214"/>
            <a:ext cx="1257300" cy="3071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454545"/>
                </a:solidFill>
              </a:defRPr>
            </a:pPr>
            <a:r>
              <a:rPr sz="788">
                <a:solidFill>
                  <a:srgbClr val="454545"/>
                </a:solidFill>
              </a:rPr>
              <a:t>перегляд або експорт звіту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4C4E956-E868-4BCB-9A09-3B3A38D29241}"/>
              </a:ext>
            </a:extLst>
          </p:cNvPr>
          <p:cNvSpPr>
            <a:spLocks noGrp="1"/>
          </p:cNvSpPr>
          <p:nvPr/>
        </p:nvSpPr>
        <p:spPr>
          <a:xfrm>
            <a:off x="671513" y="2607468"/>
            <a:ext cx="3639230" cy="1307307"/>
          </a:xfrm>
          <a:prstGeom prst="rect">
            <a:avLst/>
          </a:prstGeom>
          <a:solidFill>
            <a:srgbClr val="F8F8F8"/>
          </a:solidFill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A" sz="105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941AE5C-69BB-40D6-9F4D-42069CCA2B63}"/>
              </a:ext>
            </a:extLst>
          </p:cNvPr>
          <p:cNvSpPr>
            <a:spLocks noGrp="1"/>
          </p:cNvSpPr>
          <p:nvPr/>
        </p:nvSpPr>
        <p:spPr>
          <a:xfrm>
            <a:off x="625077" y="2607469"/>
            <a:ext cx="46436" cy="1307306"/>
          </a:xfrm>
          <a:prstGeom prst="rect">
            <a:avLst/>
          </a:prstGeom>
          <a:solidFill>
            <a:srgbClr val="F3B400"/>
          </a:solidFill>
          <a:ln w="0">
            <a:solidFill>
              <a:srgbClr val="F3B400"/>
            </a:solidFill>
            <a:prstDash val="solid"/>
          </a:ln>
        </p:spPr>
        <p:txBody>
          <a:bodyPr/>
          <a:lstStyle/>
          <a:p>
            <a:endParaRPr lang="en-UA" sz="105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FEEB95-2BAC-493E-962D-BEE392509BBC}"/>
              </a:ext>
            </a:extLst>
          </p:cNvPr>
          <p:cNvSpPr>
            <a:spLocks noGrp="1"/>
          </p:cNvSpPr>
          <p:nvPr/>
        </p:nvSpPr>
        <p:spPr>
          <a:xfrm>
            <a:off x="828675" y="2736056"/>
            <a:ext cx="3271838" cy="2143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11111"/>
                </a:solidFill>
              </a:defRPr>
            </a:pPr>
            <a:r>
              <a:rPr sz="1238" b="1">
                <a:solidFill>
                  <a:srgbClr val="111111"/>
                </a:solidFill>
              </a:rPr>
              <a:t>Чому SQS важливий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C06478C-BB45-4AE1-923C-CD9D080F9816}"/>
              </a:ext>
            </a:extLst>
          </p:cNvPr>
          <p:cNvSpPr>
            <a:spLocks noGrp="1"/>
          </p:cNvSpPr>
          <p:nvPr/>
        </p:nvSpPr>
        <p:spPr>
          <a:xfrm>
            <a:off x="828675" y="3050382"/>
            <a:ext cx="3271838" cy="49291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111111"/>
                </a:solidFill>
              </a:defRPr>
            </a:pPr>
            <a:r>
              <a:rPr sz="1013">
                <a:solidFill>
                  <a:srgbClr val="111111"/>
                </a:solidFill>
              </a:rPr>
              <a:t>Якщо звітність тимчасово недоступна, повідомлення не губиться. Основний API швидко відповідає користувачу, а обробка звітів виконується асинхронно.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0F3502A-E16E-4A3B-AF15-74FD15785C1E}"/>
              </a:ext>
            </a:extLst>
          </p:cNvPr>
          <p:cNvSpPr>
            <a:spLocks noGrp="1"/>
          </p:cNvSpPr>
          <p:nvPr/>
        </p:nvSpPr>
        <p:spPr>
          <a:xfrm>
            <a:off x="4929188" y="2607469"/>
            <a:ext cx="3543299" cy="1307306"/>
          </a:xfrm>
          <a:prstGeom prst="rect">
            <a:avLst/>
          </a:prstGeom>
          <a:solidFill>
            <a:srgbClr val="F8F8F8"/>
          </a:solidFill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A" sz="105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003CDFC-D657-4C3B-B415-9B360B754D2E}"/>
              </a:ext>
            </a:extLst>
          </p:cNvPr>
          <p:cNvSpPr>
            <a:spLocks noGrp="1"/>
          </p:cNvSpPr>
          <p:nvPr/>
        </p:nvSpPr>
        <p:spPr>
          <a:xfrm>
            <a:off x="4929188" y="2607468"/>
            <a:ext cx="45719" cy="1278731"/>
          </a:xfrm>
          <a:prstGeom prst="rect">
            <a:avLst/>
          </a:prstGeom>
          <a:solidFill>
            <a:srgbClr val="6B7D16"/>
          </a:solidFill>
          <a:ln w="0">
            <a:solidFill>
              <a:srgbClr val="6B7D16"/>
            </a:solidFill>
            <a:prstDash val="solid"/>
          </a:ln>
        </p:spPr>
        <p:txBody>
          <a:bodyPr/>
          <a:lstStyle/>
          <a:p>
            <a:endParaRPr lang="en-UA" sz="105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DB75C9D-B335-466A-927D-9F827595714F}"/>
              </a:ext>
            </a:extLst>
          </p:cNvPr>
          <p:cNvSpPr>
            <a:spLocks noGrp="1"/>
          </p:cNvSpPr>
          <p:nvPr/>
        </p:nvSpPr>
        <p:spPr>
          <a:xfrm>
            <a:off x="5086350" y="2736056"/>
            <a:ext cx="3271838" cy="2143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11111"/>
                </a:solidFill>
              </a:defRPr>
            </a:pPr>
            <a:r>
              <a:rPr sz="1238" b="1">
                <a:solidFill>
                  <a:srgbClr val="111111"/>
                </a:solidFill>
              </a:rPr>
              <a:t>Чому EventBridge важливий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D1D2EBF-A42B-4C68-BC44-041D6C6F504F}"/>
              </a:ext>
            </a:extLst>
          </p:cNvPr>
          <p:cNvSpPr>
            <a:spLocks noGrp="1"/>
          </p:cNvSpPr>
          <p:nvPr/>
        </p:nvSpPr>
        <p:spPr>
          <a:xfrm>
            <a:off x="5086350" y="3050382"/>
            <a:ext cx="3271838" cy="49291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111111"/>
                </a:solidFill>
              </a:defRPr>
            </a:pPr>
            <a:r>
              <a:rPr sz="1013">
                <a:solidFill>
                  <a:srgbClr val="111111"/>
                </a:solidFill>
              </a:rPr>
              <a:t>Щотижневий звіт не запускається вручну. EventBridge викликає reports_sender за розкладом, після чого система формує CSV і надсилає його через SES.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2701BA2-6394-7F69-8713-4F5E2F832B96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8</a:t>
            </a:fld>
            <a:endParaRPr lang="uk-UA" dirty="0"/>
          </a:p>
        </p:txBody>
      </p:sp>
      <p:pic>
        <p:nvPicPr>
          <p:cNvPr id="35" name="Google Shape;64;p13">
            <a:extLst>
              <a:ext uri="{FF2B5EF4-FFF2-40B4-BE49-F238E27FC236}">
                <a16:creationId xmlns:a16="http://schemas.microsoft.com/office/drawing/2014/main" id="{ACC9DFE3-21E3-45AF-8597-B83B9719016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31209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C4248FB-3C79-4F30-8A12-D932AD98F87C}"/>
              </a:ext>
            </a:extLst>
          </p:cNvPr>
          <p:cNvSpPr>
            <a:spLocks noGrp="1"/>
          </p:cNvSpPr>
          <p:nvPr/>
        </p:nvSpPr>
        <p:spPr>
          <a:xfrm>
            <a:off x="371475" y="257175"/>
            <a:ext cx="7358063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>
                <a:solidFill>
                  <a:srgbClr val="111111"/>
                </a:solidFill>
              </a:defRPr>
            </a:pPr>
            <a:r>
              <a:rPr sz="1913">
                <a:solidFill>
                  <a:srgbClr val="111111"/>
                </a:solidFill>
              </a:rPr>
              <a:t>Інтерфейс користувача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37CD619-828D-A0AA-61E3-8A2751093B54}"/>
              </a:ext>
            </a:extLst>
          </p:cNvPr>
          <p:cNvSpPr txBox="1"/>
          <p:nvPr/>
        </p:nvSpPr>
        <p:spPr>
          <a:xfrm>
            <a:off x="8778240" y="461489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9</a:t>
            </a:fld>
            <a:endParaRPr lang="uk-UA" dirty="0"/>
          </a:p>
        </p:txBody>
      </p:sp>
      <p:pic>
        <p:nvPicPr>
          <p:cNvPr id="37" name="Google Shape;64;p13">
            <a:extLst>
              <a:ext uri="{FF2B5EF4-FFF2-40B4-BE49-F238E27FC236}">
                <a16:creationId xmlns:a16="http://schemas.microsoft.com/office/drawing/2014/main" id="{4226B6A3-46B2-766D-B277-D28D61F4789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B9D60A58-1A74-758D-98B0-624BF7C360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4462" y="735183"/>
            <a:ext cx="6396394" cy="3673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244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40D8C-E6C4-FF6F-75EF-1A9B1AC6A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EDCE7B1-9037-3DAC-C9BD-09381944A7CD}"/>
              </a:ext>
            </a:extLst>
          </p:cNvPr>
          <p:cNvSpPr>
            <a:spLocks noGrp="1"/>
          </p:cNvSpPr>
          <p:nvPr/>
        </p:nvSpPr>
        <p:spPr>
          <a:xfrm>
            <a:off x="371475" y="257175"/>
            <a:ext cx="7358063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>
                <a:solidFill>
                  <a:srgbClr val="111111"/>
                </a:solidFill>
              </a:defRPr>
            </a:pPr>
            <a:r>
              <a:rPr sz="1913">
                <a:solidFill>
                  <a:srgbClr val="111111"/>
                </a:solidFill>
              </a:rPr>
              <a:t>Інтерфейс </a:t>
            </a:r>
            <a:r>
              <a:rPr lang="uk-UA" sz="1913">
                <a:solidFill>
                  <a:srgbClr val="111111"/>
                </a:solidFill>
              </a:rPr>
              <a:t>офіціанта</a:t>
            </a:r>
            <a:endParaRPr sz="1913">
              <a:solidFill>
                <a:srgbClr val="111111"/>
              </a:solidFill>
            </a:endParaRPr>
          </a:p>
        </p:txBody>
      </p:sp>
      <p:pic>
        <p:nvPicPr>
          <p:cNvPr id="37" name="Google Shape;64;p13">
            <a:extLst>
              <a:ext uri="{FF2B5EF4-FFF2-40B4-BE49-F238E27FC236}">
                <a16:creationId xmlns:a16="http://schemas.microsoft.com/office/drawing/2014/main" id="{EB1C2E87-B641-FC26-F2D5-35CB3FF9C43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B8306B-6ECF-17DA-7716-77C41E4F2A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4462" y="735182"/>
            <a:ext cx="6396394" cy="38192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EC4CCE-2BA2-5BF0-6E52-C3B0CEBBF72B}"/>
              </a:ext>
            </a:extLst>
          </p:cNvPr>
          <p:cNvSpPr txBox="1"/>
          <p:nvPr/>
        </p:nvSpPr>
        <p:spPr>
          <a:xfrm>
            <a:off x="8718418" y="462344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10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012912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B3B0C-812E-F925-DD47-DA25C15B6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5A8AD4B-3F2A-35A3-9447-574F81F9509D}"/>
              </a:ext>
            </a:extLst>
          </p:cNvPr>
          <p:cNvSpPr>
            <a:spLocks noGrp="1"/>
          </p:cNvSpPr>
          <p:nvPr/>
        </p:nvSpPr>
        <p:spPr>
          <a:xfrm>
            <a:off x="371475" y="257175"/>
            <a:ext cx="7358063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>
                <a:solidFill>
                  <a:srgbClr val="111111"/>
                </a:solidFill>
              </a:defRPr>
            </a:pPr>
            <a:r>
              <a:rPr sz="1913">
                <a:solidFill>
                  <a:srgbClr val="111111"/>
                </a:solidFill>
              </a:rPr>
              <a:t>Інтерфейс </a:t>
            </a:r>
            <a:r>
              <a:rPr lang="uk-UA" sz="1913">
                <a:solidFill>
                  <a:srgbClr val="111111"/>
                </a:solidFill>
              </a:rPr>
              <a:t>адміністратора</a:t>
            </a:r>
            <a:endParaRPr sz="1913">
              <a:solidFill>
                <a:srgbClr val="111111"/>
              </a:solidFill>
            </a:endParaRPr>
          </a:p>
        </p:txBody>
      </p:sp>
      <p:pic>
        <p:nvPicPr>
          <p:cNvPr id="37" name="Google Shape;64;p13">
            <a:extLst>
              <a:ext uri="{FF2B5EF4-FFF2-40B4-BE49-F238E27FC236}">
                <a16:creationId xmlns:a16="http://schemas.microsoft.com/office/drawing/2014/main" id="{6DAF80FF-8142-AE82-C27C-24BD01A9AB6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68046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5FF608E-C797-3ADD-F153-E432540858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2782" y="775486"/>
            <a:ext cx="6660373" cy="38308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601D0B8-8C6F-D217-F289-4ACFA1937D3F}"/>
              </a:ext>
            </a:extLst>
          </p:cNvPr>
          <p:cNvSpPr txBox="1"/>
          <p:nvPr/>
        </p:nvSpPr>
        <p:spPr>
          <a:xfrm>
            <a:off x="8718418" y="462344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11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0394181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1EEE634-1B89-4E86-B1DB-20E6465A0D07}"/>
              </a:ext>
            </a:extLst>
          </p:cNvPr>
          <p:cNvSpPr>
            <a:spLocks noGrp="1"/>
          </p:cNvSpPr>
          <p:nvPr/>
        </p:nvSpPr>
        <p:spPr>
          <a:xfrm>
            <a:off x="371475" y="257175"/>
            <a:ext cx="7358063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>
                <a:solidFill>
                  <a:srgbClr val="111111"/>
                </a:solidFill>
              </a:defRPr>
            </a:pPr>
            <a:r>
              <a:rPr sz="1913">
                <a:solidFill>
                  <a:srgbClr val="111111"/>
                </a:solidFill>
              </a:rPr>
              <a:t>Тестування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D44004-2B52-41B1-9494-F8D762513E24}"/>
              </a:ext>
            </a:extLst>
          </p:cNvPr>
          <p:cNvSpPr>
            <a:spLocks noGrp="1"/>
          </p:cNvSpPr>
          <p:nvPr/>
        </p:nvSpPr>
        <p:spPr>
          <a:xfrm>
            <a:off x="535782" y="964407"/>
            <a:ext cx="2464594" cy="1107281"/>
          </a:xfrm>
          <a:prstGeom prst="rect">
            <a:avLst/>
          </a:prstGeom>
          <a:solidFill>
            <a:srgbClr val="F8F8F8"/>
          </a:solidFill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A" sz="10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87140E-C92F-45DC-A316-EB588A6DDBD5}"/>
              </a:ext>
            </a:extLst>
          </p:cNvPr>
          <p:cNvSpPr>
            <a:spLocks noGrp="1"/>
          </p:cNvSpPr>
          <p:nvPr/>
        </p:nvSpPr>
        <p:spPr>
          <a:xfrm>
            <a:off x="535782" y="964407"/>
            <a:ext cx="35719" cy="1107281"/>
          </a:xfrm>
          <a:prstGeom prst="rect">
            <a:avLst/>
          </a:prstGeom>
          <a:solidFill>
            <a:srgbClr val="0097C7"/>
          </a:solidFill>
          <a:ln w="0">
            <a:solidFill>
              <a:srgbClr val="0097C7"/>
            </a:solidFill>
            <a:prstDash val="solid"/>
          </a:ln>
        </p:spPr>
        <p:txBody>
          <a:bodyPr/>
          <a:lstStyle/>
          <a:p>
            <a:endParaRPr lang="en-UA" sz="10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687DC6-A84B-4E92-B9A9-2E859CE2FE65}"/>
              </a:ext>
            </a:extLst>
          </p:cNvPr>
          <p:cNvSpPr>
            <a:spLocks noGrp="1"/>
          </p:cNvSpPr>
          <p:nvPr/>
        </p:nvSpPr>
        <p:spPr>
          <a:xfrm>
            <a:off x="692944" y="1092994"/>
            <a:ext cx="2164556" cy="2143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11111"/>
                </a:solidFill>
              </a:defRPr>
            </a:pPr>
            <a:r>
              <a:rPr sz="1238" b="1">
                <a:solidFill>
                  <a:srgbClr val="111111"/>
                </a:solidFill>
              </a:rPr>
              <a:t>Backend unit tests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87B446-CB9F-42A0-B79F-54A737F40B51}"/>
              </a:ext>
            </a:extLst>
          </p:cNvPr>
          <p:cNvSpPr>
            <a:spLocks noGrp="1"/>
          </p:cNvSpPr>
          <p:nvPr/>
        </p:nvSpPr>
        <p:spPr>
          <a:xfrm>
            <a:off x="692944" y="1407319"/>
            <a:ext cx="2164556" cy="5643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111111"/>
                </a:solidFill>
              </a:defRPr>
            </a:pPr>
            <a:r>
              <a:rPr sz="956">
                <a:solidFill>
                  <a:srgbClr val="111111"/>
                </a:solidFill>
              </a:rPr>
              <a:t>52 модульні тести перевіряють бізнес-логіку API, роботу з моделями та обробку помилкових сценаріїв.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27056E-3CB1-4C7F-A20E-3AC920A258D8}"/>
              </a:ext>
            </a:extLst>
          </p:cNvPr>
          <p:cNvSpPr>
            <a:spLocks noGrp="1"/>
          </p:cNvSpPr>
          <p:nvPr/>
        </p:nvSpPr>
        <p:spPr>
          <a:xfrm>
            <a:off x="3321844" y="964407"/>
            <a:ext cx="2464594" cy="1107281"/>
          </a:xfrm>
          <a:prstGeom prst="rect">
            <a:avLst/>
          </a:prstGeom>
          <a:solidFill>
            <a:srgbClr val="F8F8F8"/>
          </a:solidFill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A" sz="10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449371-05A7-4829-96DA-DB33FD7C2DAA}"/>
              </a:ext>
            </a:extLst>
          </p:cNvPr>
          <p:cNvSpPr>
            <a:spLocks noGrp="1"/>
          </p:cNvSpPr>
          <p:nvPr/>
        </p:nvSpPr>
        <p:spPr>
          <a:xfrm>
            <a:off x="3321844" y="964407"/>
            <a:ext cx="35719" cy="1107281"/>
          </a:xfrm>
          <a:prstGeom prst="rect">
            <a:avLst/>
          </a:prstGeom>
          <a:solidFill>
            <a:srgbClr val="F3B400"/>
          </a:solidFill>
          <a:ln w="0">
            <a:solidFill>
              <a:srgbClr val="F3B400"/>
            </a:solidFill>
            <a:prstDash val="solid"/>
          </a:ln>
        </p:spPr>
        <p:txBody>
          <a:bodyPr/>
          <a:lstStyle/>
          <a:p>
            <a:endParaRPr lang="en-UA" sz="105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ECEA8A-0162-469D-8CD8-A340BFE87453}"/>
              </a:ext>
            </a:extLst>
          </p:cNvPr>
          <p:cNvSpPr>
            <a:spLocks noGrp="1"/>
          </p:cNvSpPr>
          <p:nvPr/>
        </p:nvSpPr>
        <p:spPr>
          <a:xfrm>
            <a:off x="3479007" y="1092994"/>
            <a:ext cx="2164556" cy="2143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11111"/>
                </a:solidFill>
              </a:defRPr>
            </a:pPr>
            <a:r>
              <a:rPr sz="1238" b="1">
                <a:solidFill>
                  <a:srgbClr val="111111"/>
                </a:solidFill>
              </a:rPr>
              <a:t>Automation QA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98BB64-3D1E-48FC-934C-F6D1125E91E1}"/>
              </a:ext>
            </a:extLst>
          </p:cNvPr>
          <p:cNvSpPr>
            <a:spLocks noGrp="1"/>
          </p:cNvSpPr>
          <p:nvPr/>
        </p:nvSpPr>
        <p:spPr>
          <a:xfrm>
            <a:off x="3479007" y="1407319"/>
            <a:ext cx="2164556" cy="5643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111111"/>
                </a:solidFill>
              </a:defRPr>
            </a:pPr>
            <a:r>
              <a:rPr sz="956">
                <a:solidFill>
                  <a:srgbClr val="111111"/>
                </a:solidFill>
              </a:rPr>
              <a:t>Playwright покриває реєстрацію, email confirmation, login та валідацію помилок у формах.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D185A4-EF8F-42CC-8A27-F1C2C6CC6998}"/>
              </a:ext>
            </a:extLst>
          </p:cNvPr>
          <p:cNvSpPr>
            <a:spLocks noGrp="1"/>
          </p:cNvSpPr>
          <p:nvPr/>
        </p:nvSpPr>
        <p:spPr>
          <a:xfrm>
            <a:off x="6107907" y="964407"/>
            <a:ext cx="2464594" cy="1107281"/>
          </a:xfrm>
          <a:prstGeom prst="rect">
            <a:avLst/>
          </a:prstGeom>
          <a:solidFill>
            <a:srgbClr val="F8F8F8"/>
          </a:solidFill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A" sz="10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DAA28F5-F5EF-4E24-A3DA-FCE47714912E}"/>
              </a:ext>
            </a:extLst>
          </p:cNvPr>
          <p:cNvSpPr>
            <a:spLocks noGrp="1"/>
          </p:cNvSpPr>
          <p:nvPr/>
        </p:nvSpPr>
        <p:spPr>
          <a:xfrm>
            <a:off x="6107907" y="964407"/>
            <a:ext cx="35719" cy="1107281"/>
          </a:xfrm>
          <a:prstGeom prst="rect">
            <a:avLst/>
          </a:prstGeom>
          <a:solidFill>
            <a:srgbClr val="6B7D16"/>
          </a:solidFill>
          <a:ln w="0">
            <a:solidFill>
              <a:srgbClr val="6B7D16"/>
            </a:solidFill>
            <a:prstDash val="solid"/>
          </a:ln>
        </p:spPr>
        <p:txBody>
          <a:bodyPr/>
          <a:lstStyle/>
          <a:p>
            <a:endParaRPr lang="en-UA" sz="10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DA0D06-FAD6-4FFF-B6F6-F951FD004003}"/>
              </a:ext>
            </a:extLst>
          </p:cNvPr>
          <p:cNvSpPr>
            <a:spLocks noGrp="1"/>
          </p:cNvSpPr>
          <p:nvPr/>
        </p:nvSpPr>
        <p:spPr>
          <a:xfrm>
            <a:off x="6265069" y="1092994"/>
            <a:ext cx="2164556" cy="2143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11111"/>
                </a:solidFill>
              </a:defRPr>
            </a:pPr>
            <a:r>
              <a:rPr sz="1238" b="1">
                <a:solidFill>
                  <a:srgbClr val="111111"/>
                </a:solidFill>
              </a:rPr>
              <a:t>Manual checks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9760AC-6E3E-4092-9B8E-8515C2DC0E62}"/>
              </a:ext>
            </a:extLst>
          </p:cNvPr>
          <p:cNvSpPr>
            <a:spLocks noGrp="1"/>
          </p:cNvSpPr>
          <p:nvPr/>
        </p:nvSpPr>
        <p:spPr>
          <a:xfrm>
            <a:off x="6265069" y="1407319"/>
            <a:ext cx="2164556" cy="5643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111111"/>
                </a:solidFill>
              </a:defRPr>
            </a:pPr>
            <a:r>
              <a:rPr sz="956">
                <a:solidFill>
                  <a:srgbClr val="111111"/>
                </a:solidFill>
              </a:rPr>
              <a:t>Окремо перевірено RBAC для Customer, Waiter і Admin, а також доступ до службових сторінок.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BF4E40D-7E74-4DD7-B374-8668079E1EE4}"/>
              </a:ext>
            </a:extLst>
          </p:cNvPr>
          <p:cNvSpPr>
            <a:spLocks noGrp="1"/>
          </p:cNvSpPr>
          <p:nvPr/>
        </p:nvSpPr>
        <p:spPr>
          <a:xfrm>
            <a:off x="678656" y="2428875"/>
            <a:ext cx="2928938" cy="2143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111111"/>
                </a:solidFill>
              </a:defRPr>
            </a:pPr>
            <a:r>
              <a:rPr sz="1294" b="1">
                <a:solidFill>
                  <a:srgbClr val="111111"/>
                </a:solidFill>
              </a:rPr>
              <a:t>Ключові перевірені сценарії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DE2E0C4-8BD6-465D-B50E-2DFA5F59D8D2}"/>
              </a:ext>
            </a:extLst>
          </p:cNvPr>
          <p:cNvSpPr>
            <a:spLocks noGrp="1"/>
          </p:cNvSpPr>
          <p:nvPr/>
        </p:nvSpPr>
        <p:spPr>
          <a:xfrm>
            <a:off x="678657" y="2836069"/>
            <a:ext cx="92869" cy="92869"/>
          </a:xfrm>
          <a:prstGeom prst="ellipse">
            <a:avLst/>
          </a:prstGeom>
          <a:solidFill>
            <a:srgbClr val="F3B400"/>
          </a:solidFill>
          <a:ln w="0">
            <a:solidFill>
              <a:srgbClr val="F3B400"/>
            </a:solidFill>
            <a:prstDash val="solid"/>
          </a:ln>
        </p:spPr>
        <p:txBody>
          <a:bodyPr/>
          <a:lstStyle/>
          <a:p>
            <a:endParaRPr lang="en-UA" sz="105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5A4222D-74AC-4EFB-97EF-2C0BB6356A78}"/>
              </a:ext>
            </a:extLst>
          </p:cNvPr>
          <p:cNvSpPr>
            <a:spLocks noGrp="1"/>
          </p:cNvSpPr>
          <p:nvPr/>
        </p:nvSpPr>
        <p:spPr>
          <a:xfrm>
            <a:off x="878681" y="2786063"/>
            <a:ext cx="42291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111111"/>
                </a:solidFill>
              </a:defRPr>
            </a:pPr>
            <a:r>
              <a:rPr sz="1013">
                <a:solidFill>
                  <a:srgbClr val="111111"/>
                </a:solidFill>
              </a:rPr>
              <a:t>бронювання створюється з правильним столиком, часом і waiter_id;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E77ABBE-13A5-45DB-8C14-B17155953DDC}"/>
              </a:ext>
            </a:extLst>
          </p:cNvPr>
          <p:cNvSpPr>
            <a:spLocks noGrp="1"/>
          </p:cNvSpPr>
          <p:nvPr/>
        </p:nvSpPr>
        <p:spPr>
          <a:xfrm>
            <a:off x="678657" y="3157538"/>
            <a:ext cx="92869" cy="92869"/>
          </a:xfrm>
          <a:prstGeom prst="ellipse">
            <a:avLst/>
          </a:prstGeom>
          <a:solidFill>
            <a:srgbClr val="F3B400"/>
          </a:solidFill>
          <a:ln w="0">
            <a:solidFill>
              <a:srgbClr val="F3B400"/>
            </a:solidFill>
            <a:prstDash val="solid"/>
          </a:ln>
        </p:spPr>
        <p:txBody>
          <a:bodyPr/>
          <a:lstStyle/>
          <a:p>
            <a:endParaRPr lang="en-UA" sz="105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AC6416F-769F-48FE-9853-0A4694F9F7BB}"/>
              </a:ext>
            </a:extLst>
          </p:cNvPr>
          <p:cNvSpPr>
            <a:spLocks noGrp="1"/>
          </p:cNvSpPr>
          <p:nvPr/>
        </p:nvSpPr>
        <p:spPr>
          <a:xfrm>
            <a:off x="878681" y="3107531"/>
            <a:ext cx="42291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111111"/>
                </a:solidFill>
              </a:defRPr>
            </a:pPr>
            <a:r>
              <a:rPr sz="1013">
                <a:solidFill>
                  <a:srgbClr val="111111"/>
                </a:solidFill>
              </a:rPr>
              <a:t>feedback оновлює аналітичний ORDER-запис через reporting pipeline;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7725F27-3CD6-4AB8-95A7-13FCEFEF16E9}"/>
              </a:ext>
            </a:extLst>
          </p:cNvPr>
          <p:cNvSpPr>
            <a:spLocks noGrp="1"/>
          </p:cNvSpPr>
          <p:nvPr/>
        </p:nvSpPr>
        <p:spPr>
          <a:xfrm>
            <a:off x="678657" y="3479007"/>
            <a:ext cx="92869" cy="92869"/>
          </a:xfrm>
          <a:prstGeom prst="ellipse">
            <a:avLst/>
          </a:prstGeom>
          <a:solidFill>
            <a:srgbClr val="F3B400"/>
          </a:solidFill>
          <a:ln w="0">
            <a:solidFill>
              <a:srgbClr val="F3B400"/>
            </a:solidFill>
            <a:prstDash val="solid"/>
          </a:ln>
        </p:spPr>
        <p:txBody>
          <a:bodyPr/>
          <a:lstStyle/>
          <a:p>
            <a:endParaRPr lang="en-UA" sz="105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2BA7829-C179-47F8-8D8B-7A54FCC8CEF2}"/>
              </a:ext>
            </a:extLst>
          </p:cNvPr>
          <p:cNvSpPr>
            <a:spLocks noGrp="1"/>
          </p:cNvSpPr>
          <p:nvPr/>
        </p:nvSpPr>
        <p:spPr>
          <a:xfrm>
            <a:off x="878681" y="3429000"/>
            <a:ext cx="42291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111111"/>
                </a:solidFill>
              </a:defRPr>
            </a:pPr>
            <a:r>
              <a:rPr sz="1013">
                <a:solidFill>
                  <a:srgbClr val="111111"/>
                </a:solidFill>
              </a:rPr>
              <a:t>reports_handler приймає SQS Records і записує дані в Reports;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54436C0-4C93-4F84-BAB2-BEF1E76D18C4}"/>
              </a:ext>
            </a:extLst>
          </p:cNvPr>
          <p:cNvSpPr>
            <a:spLocks noGrp="1"/>
          </p:cNvSpPr>
          <p:nvPr/>
        </p:nvSpPr>
        <p:spPr>
          <a:xfrm>
            <a:off x="678657" y="3800475"/>
            <a:ext cx="92869" cy="92869"/>
          </a:xfrm>
          <a:prstGeom prst="ellipse">
            <a:avLst/>
          </a:prstGeom>
          <a:solidFill>
            <a:srgbClr val="F3B400"/>
          </a:solidFill>
          <a:ln w="0">
            <a:solidFill>
              <a:srgbClr val="F3B400"/>
            </a:solidFill>
            <a:prstDash val="solid"/>
          </a:ln>
        </p:spPr>
        <p:txBody>
          <a:bodyPr/>
          <a:lstStyle/>
          <a:p>
            <a:endParaRPr lang="en-UA" sz="105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2BD908-01FE-4C26-8942-81B7EABCEBD9}"/>
              </a:ext>
            </a:extLst>
          </p:cNvPr>
          <p:cNvSpPr>
            <a:spLocks noGrp="1"/>
          </p:cNvSpPr>
          <p:nvPr/>
        </p:nvSpPr>
        <p:spPr>
          <a:xfrm>
            <a:off x="878681" y="3750469"/>
            <a:ext cx="42291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111111"/>
                </a:solidFill>
              </a:defRPr>
            </a:pPr>
            <a:r>
              <a:rPr sz="1013">
                <a:solidFill>
                  <a:srgbClr val="111111"/>
                </a:solidFill>
              </a:rPr>
              <a:t>Admin отримує waiter performance і location comparison у потрібному форматі.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DB99260-3854-46D0-895C-F1685C664549}"/>
              </a:ext>
            </a:extLst>
          </p:cNvPr>
          <p:cNvSpPr>
            <a:spLocks noGrp="1"/>
          </p:cNvSpPr>
          <p:nvPr/>
        </p:nvSpPr>
        <p:spPr>
          <a:xfrm>
            <a:off x="1131175" y="4150519"/>
            <a:ext cx="7143750" cy="242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Результат: основні клієнтські, службові та аналітичні сценарії підтверджені тестами або ручною перевіркою.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32CD67-E615-1F4C-A8A6-F7A74A28E8FF}"/>
              </a:ext>
            </a:extLst>
          </p:cNvPr>
          <p:cNvSpPr txBox="1"/>
          <p:nvPr/>
        </p:nvSpPr>
        <p:spPr>
          <a:xfrm>
            <a:off x="8718418" y="462344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12</a:t>
            </a:fld>
            <a:endParaRPr lang="uk-UA" dirty="0"/>
          </a:p>
        </p:txBody>
      </p:sp>
      <p:pic>
        <p:nvPicPr>
          <p:cNvPr id="27" name="Google Shape;64;p13">
            <a:extLst>
              <a:ext uri="{FF2B5EF4-FFF2-40B4-BE49-F238E27FC236}">
                <a16:creationId xmlns:a16="http://schemas.microsoft.com/office/drawing/2014/main" id="{75F1D978-E71A-3AA4-5B71-DC6C0888771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345665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AF499F5-F4CC-48F9-BCBF-2D5AE493D6F6}"/>
              </a:ext>
            </a:extLst>
          </p:cNvPr>
          <p:cNvSpPr>
            <a:spLocks noGrp="1"/>
          </p:cNvSpPr>
          <p:nvPr/>
        </p:nvSpPr>
        <p:spPr>
          <a:xfrm>
            <a:off x="354384" y="363426"/>
            <a:ext cx="7358063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>
                <a:solidFill>
                  <a:srgbClr val="111111"/>
                </a:solidFill>
              </a:defRPr>
            </a:pPr>
            <a:r>
              <a:rPr sz="1913">
                <a:solidFill>
                  <a:srgbClr val="111111"/>
                </a:solidFill>
              </a:rPr>
              <a:t>Підсумки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7131E40-A244-47B7-99E4-3AAE4AC59CC6}"/>
              </a:ext>
            </a:extLst>
          </p:cNvPr>
          <p:cNvSpPr>
            <a:spLocks noGrp="1"/>
          </p:cNvSpPr>
          <p:nvPr/>
        </p:nvSpPr>
        <p:spPr>
          <a:xfrm>
            <a:off x="678657" y="1050132"/>
            <a:ext cx="92869" cy="92869"/>
          </a:xfrm>
          <a:prstGeom prst="ellipse">
            <a:avLst/>
          </a:prstGeom>
          <a:solidFill>
            <a:srgbClr val="F3B400"/>
          </a:solidFill>
          <a:ln w="0">
            <a:solidFill>
              <a:srgbClr val="F3B400"/>
            </a:solidFill>
            <a:prstDash val="solid"/>
          </a:ln>
        </p:spPr>
        <p:txBody>
          <a:bodyPr/>
          <a:lstStyle/>
          <a:p>
            <a:endParaRPr lang="en-UA" sz="10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97CDAA-B823-4BB0-8AC0-98038FD4B984}"/>
              </a:ext>
            </a:extLst>
          </p:cNvPr>
          <p:cNvSpPr>
            <a:spLocks noGrp="1"/>
          </p:cNvSpPr>
          <p:nvPr/>
        </p:nvSpPr>
        <p:spPr>
          <a:xfrm>
            <a:off x="878682" y="1000125"/>
            <a:ext cx="7265194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111111"/>
                </a:solidFill>
              </a:defRPr>
            </a:pPr>
            <a:r>
              <a:rPr sz="1181">
                <a:solidFill>
                  <a:srgbClr val="111111"/>
                </a:solidFill>
              </a:rPr>
              <a:t>реалізовано роботу з локаціями, меню, резерваціями, pre-order і feedback;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2B1F5BD-DEA0-489A-B659-6A30A4E03E96}"/>
              </a:ext>
            </a:extLst>
          </p:cNvPr>
          <p:cNvSpPr>
            <a:spLocks noGrp="1"/>
          </p:cNvSpPr>
          <p:nvPr/>
        </p:nvSpPr>
        <p:spPr>
          <a:xfrm>
            <a:off x="678657" y="1493044"/>
            <a:ext cx="92869" cy="92869"/>
          </a:xfrm>
          <a:prstGeom prst="ellipse">
            <a:avLst/>
          </a:prstGeom>
          <a:solidFill>
            <a:srgbClr val="F3B400"/>
          </a:solidFill>
          <a:ln w="0">
            <a:solidFill>
              <a:srgbClr val="F3B400"/>
            </a:solidFill>
            <a:prstDash val="solid"/>
          </a:ln>
        </p:spPr>
        <p:txBody>
          <a:bodyPr/>
          <a:lstStyle/>
          <a:p>
            <a:endParaRPr lang="en-UA" sz="105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974FA2-E6DB-45DB-9143-8D6B1E615FE5}"/>
              </a:ext>
            </a:extLst>
          </p:cNvPr>
          <p:cNvSpPr>
            <a:spLocks noGrp="1"/>
          </p:cNvSpPr>
          <p:nvPr/>
        </p:nvSpPr>
        <p:spPr>
          <a:xfrm>
            <a:off x="878682" y="1443038"/>
            <a:ext cx="7265194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111111"/>
                </a:solidFill>
              </a:defRPr>
            </a:pPr>
            <a:r>
              <a:rPr sz="1181">
                <a:solidFill>
                  <a:srgbClr val="111111"/>
                </a:solidFill>
              </a:rPr>
              <a:t>підтримано розмежування прав доступу для Customer, Waiter та Admin;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338AD13-98C6-4108-BF82-7928E62E3749}"/>
              </a:ext>
            </a:extLst>
          </p:cNvPr>
          <p:cNvSpPr>
            <a:spLocks noGrp="1"/>
          </p:cNvSpPr>
          <p:nvPr/>
        </p:nvSpPr>
        <p:spPr>
          <a:xfrm>
            <a:off x="678657" y="1935957"/>
            <a:ext cx="92869" cy="92869"/>
          </a:xfrm>
          <a:prstGeom prst="ellipse">
            <a:avLst/>
          </a:prstGeom>
          <a:solidFill>
            <a:srgbClr val="F3B400"/>
          </a:solidFill>
          <a:ln w="0">
            <a:solidFill>
              <a:srgbClr val="F3B400"/>
            </a:solidFill>
            <a:prstDash val="solid"/>
          </a:ln>
        </p:spPr>
        <p:txBody>
          <a:bodyPr/>
          <a:lstStyle/>
          <a:p>
            <a:endParaRPr lang="en-UA" sz="10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F62D38-6F5C-4948-9FDA-F06D3801C42E}"/>
              </a:ext>
            </a:extLst>
          </p:cNvPr>
          <p:cNvSpPr>
            <a:spLocks noGrp="1"/>
          </p:cNvSpPr>
          <p:nvPr/>
        </p:nvSpPr>
        <p:spPr>
          <a:xfrm>
            <a:off x="878682" y="1885950"/>
            <a:ext cx="7265194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111111"/>
                </a:solidFill>
              </a:defRPr>
            </a:pPr>
            <a:r>
              <a:rPr sz="1181">
                <a:solidFill>
                  <a:srgbClr val="111111"/>
                </a:solidFill>
              </a:rPr>
              <a:t>SQS забезпечує асинхронне створення аналітичних записів Reports;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3153A93-7D8D-43C3-A255-428C44D924C9}"/>
              </a:ext>
            </a:extLst>
          </p:cNvPr>
          <p:cNvSpPr>
            <a:spLocks noGrp="1"/>
          </p:cNvSpPr>
          <p:nvPr/>
        </p:nvSpPr>
        <p:spPr>
          <a:xfrm>
            <a:off x="678657" y="2378869"/>
            <a:ext cx="92869" cy="92869"/>
          </a:xfrm>
          <a:prstGeom prst="ellipse">
            <a:avLst/>
          </a:prstGeom>
          <a:solidFill>
            <a:srgbClr val="F3B400"/>
          </a:solidFill>
          <a:ln w="0">
            <a:solidFill>
              <a:srgbClr val="F3B400"/>
            </a:solidFill>
            <a:prstDash val="solid"/>
          </a:ln>
        </p:spPr>
        <p:txBody>
          <a:bodyPr/>
          <a:lstStyle/>
          <a:p>
            <a:endParaRPr lang="en-UA" sz="10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43F52A-F958-4A36-A4F3-8AE07D8429AD}"/>
              </a:ext>
            </a:extLst>
          </p:cNvPr>
          <p:cNvSpPr>
            <a:spLocks noGrp="1"/>
          </p:cNvSpPr>
          <p:nvPr/>
        </p:nvSpPr>
        <p:spPr>
          <a:xfrm>
            <a:off x="878682" y="2328863"/>
            <a:ext cx="7265194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111111"/>
                </a:solidFill>
              </a:defRPr>
            </a:pPr>
            <a:r>
              <a:rPr sz="1181">
                <a:solidFill>
                  <a:srgbClr val="111111"/>
                </a:solidFill>
              </a:rPr>
              <a:t>EventBridge автоматизує щотижневе формування та відправлення звітів;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3B27E7E-D680-4F7F-8A07-9739FD7E0E60}"/>
              </a:ext>
            </a:extLst>
          </p:cNvPr>
          <p:cNvSpPr>
            <a:spLocks noGrp="1"/>
          </p:cNvSpPr>
          <p:nvPr/>
        </p:nvSpPr>
        <p:spPr>
          <a:xfrm>
            <a:off x="678657" y="2821782"/>
            <a:ext cx="92869" cy="92869"/>
          </a:xfrm>
          <a:prstGeom prst="ellipse">
            <a:avLst/>
          </a:prstGeom>
          <a:solidFill>
            <a:srgbClr val="F3B400"/>
          </a:solidFill>
          <a:ln w="0">
            <a:solidFill>
              <a:srgbClr val="F3B400"/>
            </a:solidFill>
            <a:prstDash val="solid"/>
          </a:ln>
        </p:spPr>
        <p:txBody>
          <a:bodyPr/>
          <a:lstStyle/>
          <a:p>
            <a:endParaRPr lang="en-UA" sz="10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1C34B0-EB03-40AD-AF5E-FAFC1A3D186C}"/>
              </a:ext>
            </a:extLst>
          </p:cNvPr>
          <p:cNvSpPr>
            <a:spLocks noGrp="1"/>
          </p:cNvSpPr>
          <p:nvPr/>
        </p:nvSpPr>
        <p:spPr>
          <a:xfrm>
            <a:off x="878682" y="2771775"/>
            <a:ext cx="7265194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111111"/>
                </a:solidFill>
              </a:defRPr>
            </a:pPr>
            <a:r>
              <a:rPr sz="1181">
                <a:solidFill>
                  <a:srgbClr val="111111"/>
                </a:solidFill>
              </a:rPr>
              <a:t>адміністратор отримує waiter performance і location comparison у зручних форматах.</a:t>
            </a:r>
          </a:p>
        </p:txBody>
      </p:sp>
      <p:pic>
        <p:nvPicPr>
          <p:cNvPr id="17" name="Google Shape;64;p13">
            <a:extLst>
              <a:ext uri="{FF2B5EF4-FFF2-40B4-BE49-F238E27FC236}">
                <a16:creationId xmlns:a16="http://schemas.microsoft.com/office/drawing/2014/main" id="{C89D51ED-8CE2-1AF7-3DED-694F07A8714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73DBDD0-3FD3-8DC1-CBFA-D1F007B8BEA5}"/>
              </a:ext>
            </a:extLst>
          </p:cNvPr>
          <p:cNvSpPr txBox="1"/>
          <p:nvPr/>
        </p:nvSpPr>
        <p:spPr>
          <a:xfrm>
            <a:off x="8718418" y="462344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13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1921693"/>
      </p:ext>
    </p:extLst>
  </p:cSld>
  <p:clrMapOvr>
    <a:masterClrMapping/>
  </p:clrMapOvr>
</p:sld>
</file>

<file path=ppt/theme/theme1.xml><?xml version="1.0" encoding="utf-8"?>
<a:theme xmlns:a="http://schemas.openxmlformats.org/drawingml/2006/main" name="Шаблон презентації кваліфікаційної роботи магістрів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презентації кваліфікаційної роботи магістрів" id="{72E840FA-3155-46C9-BB37-701E4C9B1C67}" vid="{DC416FE5-D050-4603-AD75-8F49A0CCCB6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Шаблон презентації кваліфікаційної роботи магістрів</Template>
  <TotalTime>68</TotalTime>
  <Words>814</Words>
  <Application>Microsoft Macintosh PowerPoint</Application>
  <PresentationFormat>On-screen Show (16:9)</PresentationFormat>
  <Paragraphs>143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Open Sans</vt:lpstr>
      <vt:lpstr>Economica</vt:lpstr>
      <vt:lpstr>Шаблон презентації кваліфікаційної роботи магістрів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 Krot</dc:creator>
  <cp:lastModifiedBy>Julia Krot</cp:lastModifiedBy>
  <cp:revision>11</cp:revision>
  <dcterms:created xsi:type="dcterms:W3CDTF">2026-07-08T15:31:55Z</dcterms:created>
  <dcterms:modified xsi:type="dcterms:W3CDTF">2026-07-08T16:40:32Z</dcterms:modified>
</cp:coreProperties>
</file>